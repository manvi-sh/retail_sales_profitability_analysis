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77" autoAdjust="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  <a:r>
              <a:rPr lang="en-US" baseline="0" dirty="0"/>
              <a:t> By Region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"₹"\ #,##0.00</c:formatCode>
                <c:ptCount val="4"/>
                <c:pt idx="0">
                  <c:v>501239.89080000098</c:v>
                </c:pt>
                <c:pt idx="1">
                  <c:v>678781.23999999953</c:v>
                </c:pt>
                <c:pt idx="2">
                  <c:v>391721.90500000044</c:v>
                </c:pt>
                <c:pt idx="3">
                  <c:v>725457.82450000162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95-439D-81C9-2032EA3FB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6069344"/>
        <c:axId val="1358283248"/>
      </c:barChart>
      <c:catAx>
        <c:axId val="144606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8283248"/>
        <c:crosses val="autoZero"/>
        <c:auto val="1"/>
        <c:lblAlgn val="ctr"/>
        <c:lblOffset val="100"/>
        <c:noMultiLvlLbl val="0"/>
      </c:catAx>
      <c:valAx>
        <c:axId val="135828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606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  <a:r>
              <a:rPr lang="en-US" baseline="0" dirty="0"/>
              <a:t> By Category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"₹"\ #,##0.00</c:formatCode>
                <c:ptCount val="4"/>
                <c:pt idx="0">
                  <c:v>741999.79529999872</c:v>
                </c:pt>
                <c:pt idx="1">
                  <c:v>719047.03200000082</c:v>
                </c:pt>
                <c:pt idx="2">
                  <c:v>836154.03299999866</c:v>
                </c:pt>
                <c:pt idx="3" formatCode="General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EB-44F6-AA2C-21AAA7767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7415952"/>
        <c:axId val="1449143728"/>
      </c:barChart>
      <c:catAx>
        <c:axId val="1837415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43728"/>
        <c:crosses val="autoZero"/>
        <c:auto val="1"/>
        <c:lblAlgn val="ctr"/>
        <c:lblOffset val="100"/>
        <c:noMultiLvlLbl val="0"/>
      </c:catAx>
      <c:valAx>
        <c:axId val="144914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7415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3-4C3F-A844-A2ABDB7B4F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D3-4C3F-A844-A2ABDB7B4F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D3-4C3F-A844-A2ABDB7B4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33933744"/>
        <c:axId val="1449152848"/>
      </c:barChart>
      <c:catAx>
        <c:axId val="18339337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52848"/>
        <c:crosses val="autoZero"/>
        <c:auto val="1"/>
        <c:lblAlgn val="ctr"/>
        <c:lblOffset val="100"/>
        <c:noMultiLvlLbl val="0"/>
      </c:catAx>
      <c:valAx>
        <c:axId val="1449152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933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CUSTOMER SEGMENT CHART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21399003281390302"/>
          <c:y val="0.11178647105708231"/>
          <c:w val="0.82630979330708665"/>
          <c:h val="0.7798574815540426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741999.79529999872</c:v>
                </c:pt>
                <c:pt idx="1">
                  <c:v>719047.03200000082</c:v>
                </c:pt>
                <c:pt idx="2">
                  <c:v>836154.03299999866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D-425F-87C8-F20FC67473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46086976"/>
        <c:axId val="1449169168"/>
      </c:barChart>
      <c:catAx>
        <c:axId val="14460869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69168"/>
        <c:crosses val="autoZero"/>
        <c:auto val="1"/>
        <c:lblAlgn val="ctr"/>
        <c:lblOffset val="100"/>
        <c:noMultiLvlLbl val="0"/>
      </c:catAx>
      <c:valAx>
        <c:axId val="1449169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6086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Monthly Sales Trend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95524.566399999923</c:v>
                </c:pt>
                <c:pt idx="1">
                  <c:v>105139.12400000008</c:v>
                </c:pt>
                <c:pt idx="2">
                  <c:v>72319.924599999984</c:v>
                </c:pt>
                <c:pt idx="3">
                  <c:v>68162.339000000007</c:v>
                </c:pt>
                <c:pt idx="4">
                  <c:v>64520.508800000018</c:v>
                </c:pt>
                <c:pt idx="5">
                  <c:v>53306.857999999927</c:v>
                </c:pt>
                <c:pt idx="6">
                  <c:v>62610.906500000026</c:v>
                </c:pt>
                <c:pt idx="7">
                  <c:v>101577.95059999988</c:v>
                </c:pt>
                <c:pt idx="8">
                  <c:v>66582.364999999991</c:v>
                </c:pt>
                <c:pt idx="9">
                  <c:v>62993.840999999971</c:v>
                </c:pt>
                <c:pt idx="10">
                  <c:v>69615.231499999965</c:v>
                </c:pt>
                <c:pt idx="11">
                  <c:v>65563.696199999962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B2-477E-B9DE-F11C41EF71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17006.774999999983</c:v>
                </c:pt>
                <c:pt idx="1">
                  <c:v>19441.090699999982</c:v>
                </c:pt>
                <c:pt idx="2">
                  <c:v>7090.5232999999998</c:v>
                </c:pt>
                <c:pt idx="3">
                  <c:v>6873.6365999999925</c:v>
                </c:pt>
                <c:pt idx="4">
                  <c:v>7498.2937999999995</c:v>
                </c:pt>
                <c:pt idx="5">
                  <c:v>7489.6977999999999</c:v>
                </c:pt>
                <c:pt idx="6">
                  <c:v>3773.0899999999979</c:v>
                </c:pt>
                <c:pt idx="7">
                  <c:v>12088.527899999997</c:v>
                </c:pt>
                <c:pt idx="8">
                  <c:v>9917.1628000000073</c:v>
                </c:pt>
                <c:pt idx="9">
                  <c:v>5315.2909000000072</c:v>
                </c:pt>
                <c:pt idx="10">
                  <c:v>6871.5326999999925</c:v>
                </c:pt>
                <c:pt idx="11">
                  <c:v>5437.6935999999996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B2-477E-B9DE-F11C41EF7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606656"/>
        <c:axId val="1449162928"/>
      </c:lineChart>
      <c:catAx>
        <c:axId val="196460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62928"/>
        <c:crosses val="autoZero"/>
        <c:auto val="1"/>
        <c:lblAlgn val="ctr"/>
        <c:lblOffset val="100"/>
        <c:noMultiLvlLbl val="0"/>
      </c:catAx>
      <c:valAx>
        <c:axId val="144916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460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Top 5 Products by Sales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Canon imageCLASS 2200 Advanced Copier</c:v>
                </c:pt>
                <c:pt idx="1">
                  <c:v>Fellowes PB500 Electric Punch Plastic Comb Binding Machine with Manual Bind</c:v>
                </c:pt>
                <c:pt idx="2">
                  <c:v>Cisco TelePresence System EX90 Videoconferencing Unit</c:v>
                </c:pt>
                <c:pt idx="3">
                  <c:v>HON 5400 Series Task Chairs for Big and Tall</c:v>
                </c:pt>
                <c:pt idx="4">
                  <c:v>GBC DocuBind TL300 Electric Binding System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61599.824000000001</c:v>
                </c:pt>
                <c:pt idx="1">
                  <c:v>27453.383999999998</c:v>
                </c:pt>
                <c:pt idx="2">
                  <c:v>22638.48</c:v>
                </c:pt>
                <c:pt idx="3">
                  <c:v>21870.576000000001</c:v>
                </c:pt>
                <c:pt idx="4">
                  <c:v>19823.478999999999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3C-4281-A794-85655A4FE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64652592"/>
        <c:axId val="1449145648"/>
      </c:barChart>
      <c:catAx>
        <c:axId val="1964652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45648"/>
        <c:crosses val="autoZero"/>
        <c:auto val="1"/>
        <c:lblAlgn val="ctr"/>
        <c:lblOffset val="100"/>
        <c:noMultiLvlLbl val="0"/>
      </c:catAx>
      <c:valAx>
        <c:axId val="1449145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4652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6722198884575"/>
          <c:y val="4.2439287700623135E-2"/>
          <c:w val="0.88243999904889059"/>
          <c:h val="0.787458997218384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0%</c:formatCode>
                <c:ptCount val="9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1087908.4699999879</c:v>
                </c:pt>
                <c:pt idx="1">
                  <c:v>54369.351000000031</c:v>
                </c:pt>
                <c:pt idx="2">
                  <c:v>764594.36800000549</c:v>
                </c:pt>
                <c:pt idx="3">
                  <c:v>103226.65499999998</c:v>
                </c:pt>
                <c:pt idx="4">
                  <c:v>116417.78400000009</c:v>
                </c:pt>
                <c:pt idx="5">
                  <c:v>58918.539999999994</c:v>
                </c:pt>
                <c:pt idx="6">
                  <c:v>6644.7000000000035</c:v>
                </c:pt>
                <c:pt idx="7">
                  <c:v>40620.282000000079</c:v>
                </c:pt>
                <c:pt idx="8">
                  <c:v>16963.75599999999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43-4344-AF64-4909D17E46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0%</c:formatCode>
                <c:ptCount val="9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320987.60320000013</c:v>
                </c:pt>
                <c:pt idx="1">
                  <c:v>9029.1770000000015</c:v>
                </c:pt>
                <c:pt idx="2">
                  <c:v>90337.306000000142</c:v>
                </c:pt>
                <c:pt idx="3">
                  <c:v>-10369.277399999994</c:v>
                </c:pt>
                <c:pt idx="4">
                  <c:v>-23057.050400000011</c:v>
                </c:pt>
                <c:pt idx="5">
                  <c:v>-20506.428100000001</c:v>
                </c:pt>
                <c:pt idx="6">
                  <c:v>-5944.6551999999983</c:v>
                </c:pt>
                <c:pt idx="7">
                  <c:v>-40075.356899999999</c:v>
                </c:pt>
                <c:pt idx="8">
                  <c:v>-30539.039199999985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43-4344-AF64-4909D17E4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4702704"/>
        <c:axId val="1358299088"/>
      </c:barChart>
      <c:catAx>
        <c:axId val="1964702704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8299088"/>
        <c:crosses val="autoZero"/>
        <c:auto val="1"/>
        <c:lblAlgn val="ctr"/>
        <c:lblOffset val="100"/>
        <c:noMultiLvlLbl val="0"/>
      </c:catAx>
      <c:valAx>
        <c:axId val="135829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470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AD2-08FB-6E50-1742-6BA69EB13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147" y="1153886"/>
            <a:ext cx="8361229" cy="1709058"/>
          </a:xfrm>
        </p:spPr>
        <p:txBody>
          <a:bodyPr/>
          <a:lstStyle/>
          <a:p>
            <a:r>
              <a:rPr lang="en-IN" sz="4000" b="1" spc="-150" dirty="0">
                <a:solidFill>
                  <a:srgbClr val="002060"/>
                </a:solidFill>
                <a:latin typeface="Arial Black" panose="020B0A04020102020204" pitchFamily="34" charset="0"/>
              </a:rPr>
              <a:t>RETAIL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0F1A2-6044-A8EA-C568-0880AC075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4105" y="3429000"/>
            <a:ext cx="7903271" cy="740228"/>
          </a:xfrm>
        </p:spPr>
        <p:txBody>
          <a:bodyPr>
            <a:normAutofit fontScale="85000" lnSpcReduction="10000"/>
          </a:bodyPr>
          <a:lstStyle/>
          <a:p>
            <a:r>
              <a:rPr lang="en-IN" sz="3200" b="1" u="sng" dirty="0">
                <a:solidFill>
                  <a:srgbClr val="002060"/>
                </a:solidFill>
                <a:latin typeface="Arial Black" panose="020B0A04020102020204" pitchFamily="34" charset="0"/>
              </a:rPr>
              <a:t>Excel-Based Business Analytics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5867-6CC4-E367-EEE2-4DC0B8840B7F}"/>
              </a:ext>
            </a:extLst>
          </p:cNvPr>
          <p:cNvSpPr txBox="1"/>
          <p:nvPr/>
        </p:nvSpPr>
        <p:spPr>
          <a:xfrm>
            <a:off x="2231311" y="4535229"/>
            <a:ext cx="7728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Data Analysis • Business Insights • Dashboard • Recommendations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B0065-E149-305B-F979-7A685C2801B3}"/>
              </a:ext>
            </a:extLst>
          </p:cNvPr>
          <p:cNvSpPr txBox="1"/>
          <p:nvPr/>
        </p:nvSpPr>
        <p:spPr>
          <a:xfrm>
            <a:off x="838200" y="1556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074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2233-F80C-BB97-50C1-7CCE1F8B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5" y="299357"/>
            <a:ext cx="10646229" cy="593271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Understanding Sales Performance and Profitability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6A25E-2D8F-E991-C073-FFC5915BD653}"/>
              </a:ext>
            </a:extLst>
          </p:cNvPr>
          <p:cNvSpPr txBox="1"/>
          <p:nvPr/>
        </p:nvSpPr>
        <p:spPr>
          <a:xfrm>
            <a:off x="2016687" y="6085896"/>
            <a:ext cx="9394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2060"/>
                </a:solidFill>
                <a:highlight>
                  <a:srgbClr val="C0C0C0"/>
                </a:highlight>
              </a:rPr>
              <a:t>RAW DATA → ANALYSIS → DASHBOARD → INSIGHTS → RECOMMENDATIONS</a:t>
            </a:r>
          </a:p>
        </p:txBody>
      </p:sp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596CD5BA-78FE-DFD6-E405-5A4D775072C9}"/>
              </a:ext>
            </a:extLst>
          </p:cNvPr>
          <p:cNvSpPr/>
          <p:nvPr/>
        </p:nvSpPr>
        <p:spPr>
          <a:xfrm>
            <a:off x="1398814" y="1524390"/>
            <a:ext cx="4697186" cy="3929743"/>
          </a:xfrm>
          <a:prstGeom prst="horizontalScroll">
            <a:avLst/>
          </a:prstGeom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Arial Black" panose="020B0A04020102020204" pitchFamily="34" charset="0"/>
              </a:rPr>
              <a:t>Project focus</a:t>
            </a:r>
          </a:p>
          <a:p>
            <a:pPr algn="ctr"/>
            <a:endParaRPr lang="en-US" sz="3200" b="1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Analyse sales &amp; profitability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Identify Key Business Drivers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Find areas for improvement</a:t>
            </a:r>
          </a:p>
          <a:p>
            <a:pPr algn="ctr"/>
            <a:endParaRPr lang="en-IN" dirty="0"/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A1585E0-9740-51E2-6FEB-037AD1F3C51F}"/>
              </a:ext>
            </a:extLst>
          </p:cNvPr>
          <p:cNvSpPr/>
          <p:nvPr/>
        </p:nvSpPr>
        <p:spPr>
          <a:xfrm>
            <a:off x="6931585" y="1402473"/>
            <a:ext cx="4618157" cy="3929743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Arial Black" panose="020B0A04020102020204" pitchFamily="34" charset="0"/>
              </a:rPr>
              <a:t>Key Questions</a:t>
            </a:r>
          </a:p>
          <a:p>
            <a:pPr algn="ctr"/>
            <a:endParaRPr lang="en-US" sz="2400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Where is Performance Strongest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What drives sales &amp; profit?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Where are the biggest opportunities?</a:t>
            </a:r>
          </a:p>
        </p:txBody>
      </p:sp>
    </p:spTree>
    <p:extLst>
      <p:ext uri="{BB962C8B-B14F-4D97-AF65-F5344CB8AC3E}">
        <p14:creationId xmlns:p14="http://schemas.microsoft.com/office/powerpoint/2010/main" val="952436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AE43-C3C8-B93B-5B60-66B9AA3C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513" y="163287"/>
            <a:ext cx="10624457" cy="598714"/>
          </a:xfrm>
        </p:spPr>
        <p:txBody>
          <a:bodyPr>
            <a:normAutofit/>
          </a:bodyPr>
          <a:lstStyle/>
          <a:p>
            <a:r>
              <a:rPr lang="en-IN" sz="3200" b="1">
                <a:solidFill>
                  <a:srgbClr val="002060"/>
                </a:solidFill>
              </a:rPr>
              <a:t>From Raw Transactions to Business Insights</a:t>
            </a:r>
            <a:endParaRPr lang="en-IN" sz="3200" b="1" dirty="0">
              <a:solidFill>
                <a:srgbClr val="002060"/>
              </a:solidFill>
            </a:endParaRPr>
          </a:p>
        </p:txBody>
      </p: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AA0A11EE-8C38-FEF9-39CF-DBACCBF2DB0D}"/>
              </a:ext>
            </a:extLst>
          </p:cNvPr>
          <p:cNvSpPr/>
          <p:nvPr/>
        </p:nvSpPr>
        <p:spPr>
          <a:xfrm>
            <a:off x="1081408" y="1567540"/>
            <a:ext cx="3331028" cy="2173853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 Data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Transactions records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Scroll: Vertical 14">
            <a:extLst>
              <a:ext uri="{FF2B5EF4-FFF2-40B4-BE49-F238E27FC236}">
                <a16:creationId xmlns:a16="http://schemas.microsoft.com/office/drawing/2014/main" id="{D993130D-9A7D-3255-98E2-EE4961B2EE13}"/>
              </a:ext>
            </a:extLst>
          </p:cNvPr>
          <p:cNvSpPr/>
          <p:nvPr/>
        </p:nvSpPr>
        <p:spPr>
          <a:xfrm>
            <a:off x="6255566" y="1567540"/>
            <a:ext cx="3331028" cy="2173853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KPI &amp;Trends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4BCB9568-B3E1-044D-DC26-8819771AE378}"/>
              </a:ext>
            </a:extLst>
          </p:cNvPr>
          <p:cNvSpPr/>
          <p:nvPr/>
        </p:nvSpPr>
        <p:spPr>
          <a:xfrm>
            <a:off x="3138810" y="4203532"/>
            <a:ext cx="3331028" cy="2173852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50"/>
                </a:solidFill>
              </a:rPr>
              <a:t>Visualise</a:t>
            </a:r>
            <a:endParaRPr lang="en-US" sz="2800" b="1" dirty="0">
              <a:solidFill>
                <a:srgbClr val="00B050"/>
              </a:solidFill>
            </a:endParaRP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&amp; Trends</a:t>
            </a:r>
          </a:p>
        </p:txBody>
      </p:sp>
      <p:sp>
        <p:nvSpPr>
          <p:cNvPr id="17" name="Scroll: Vertical 16">
            <a:extLst>
              <a:ext uri="{FF2B5EF4-FFF2-40B4-BE49-F238E27FC236}">
                <a16:creationId xmlns:a16="http://schemas.microsoft.com/office/drawing/2014/main" id="{9E7A47FE-E99A-E765-D889-60FEF87CF887}"/>
              </a:ext>
            </a:extLst>
          </p:cNvPr>
          <p:cNvSpPr/>
          <p:nvPr/>
        </p:nvSpPr>
        <p:spPr>
          <a:xfrm>
            <a:off x="8385723" y="4203531"/>
            <a:ext cx="3331028" cy="2173853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Recommend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actions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38D0E-BA35-964B-B9AA-3A5A914963AF}"/>
              </a:ext>
            </a:extLst>
          </p:cNvPr>
          <p:cNvSpPr txBox="1"/>
          <p:nvPr/>
        </p:nvSpPr>
        <p:spPr>
          <a:xfrm>
            <a:off x="2046513" y="762475"/>
            <a:ext cx="460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B050"/>
                </a:solidFill>
              </a:rPr>
              <a:t>Excel-based analytical workflow</a:t>
            </a:r>
          </a:p>
        </p:txBody>
      </p:sp>
    </p:spTree>
    <p:extLst>
      <p:ext uri="{BB962C8B-B14F-4D97-AF65-F5344CB8AC3E}">
        <p14:creationId xmlns:p14="http://schemas.microsoft.com/office/powerpoint/2010/main" val="1931922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93FD-7E78-2DAC-312A-1741EBAE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5" y="206829"/>
            <a:ext cx="12170228" cy="881742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A Profitable Business with Room to Improve Margins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BD0495-2F21-0116-40E3-943F8B7C335E}"/>
              </a:ext>
            </a:extLst>
          </p:cNvPr>
          <p:cNvSpPr/>
          <p:nvPr/>
        </p:nvSpPr>
        <p:spPr>
          <a:xfrm>
            <a:off x="3303815" y="1409699"/>
            <a:ext cx="1703613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PROFIT</a:t>
            </a:r>
            <a:br>
              <a:rPr lang="en-IN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₹2,86,397.02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FA957D-0147-C0C9-309B-55BEE9721F45}"/>
              </a:ext>
            </a:extLst>
          </p:cNvPr>
          <p:cNvSpPr/>
          <p:nvPr/>
        </p:nvSpPr>
        <p:spPr>
          <a:xfrm>
            <a:off x="5532664" y="1415143"/>
            <a:ext cx="1703615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PROFIT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MARGIN</a:t>
            </a:r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12.47%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CB37AB-8B8D-7BC5-B5B2-4895A12677B3}"/>
              </a:ext>
            </a:extLst>
          </p:cNvPr>
          <p:cNvSpPr/>
          <p:nvPr/>
        </p:nvSpPr>
        <p:spPr>
          <a:xfrm>
            <a:off x="7761515" y="1355272"/>
            <a:ext cx="1524002" cy="13988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ORDERS</a:t>
            </a:r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5,009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D2178F-BC5E-0BC5-5E12-1527DBB55F93}"/>
              </a:ext>
            </a:extLst>
          </p:cNvPr>
          <p:cNvSpPr/>
          <p:nvPr/>
        </p:nvSpPr>
        <p:spPr>
          <a:xfrm>
            <a:off x="1083126" y="1409699"/>
            <a:ext cx="1823357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</a:t>
            </a:r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₹22,97,200.86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580001-9329-2AF6-39AB-868AB620C20F}"/>
              </a:ext>
            </a:extLst>
          </p:cNvPr>
          <p:cNvSpPr/>
          <p:nvPr/>
        </p:nvSpPr>
        <p:spPr>
          <a:xfrm>
            <a:off x="9906003" y="1415143"/>
            <a:ext cx="1524002" cy="13988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QUANTITY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37873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6C2FA-DAE1-CFDD-9548-374276E47381}"/>
              </a:ext>
            </a:extLst>
          </p:cNvPr>
          <p:cNvSpPr txBox="1"/>
          <p:nvPr/>
        </p:nvSpPr>
        <p:spPr>
          <a:xfrm>
            <a:off x="1164772" y="3875314"/>
            <a:ext cx="1082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rgbClr val="002060"/>
                </a:solidFill>
                <a:latin typeface="Arial Black" panose="020B0A04020102020204" pitchFamily="34" charset="0"/>
              </a:rPr>
              <a:t>Overall sales are strong, but the 12.47% margin indicates an opportunity to improve profitability.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169359-A31C-1E61-D8A5-2D939114A852}"/>
              </a:ext>
            </a:extLst>
          </p:cNvPr>
          <p:cNvSpPr/>
          <p:nvPr/>
        </p:nvSpPr>
        <p:spPr>
          <a:xfrm>
            <a:off x="4147457" y="5080748"/>
            <a:ext cx="3897085" cy="1050157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source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→ KPI Cards</a:t>
            </a:r>
          </a:p>
        </p:txBody>
      </p:sp>
    </p:spTree>
    <p:extLst>
      <p:ext uri="{BB962C8B-B14F-4D97-AF65-F5344CB8AC3E}">
        <p14:creationId xmlns:p14="http://schemas.microsoft.com/office/powerpoint/2010/main" val="2451145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42B3-6E3C-FE31-139C-43B0F1BE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857" y="337458"/>
            <a:ext cx="9448800" cy="106680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West Leads Regional Performance, While Technology Drives Category Results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61CA9D-1E2D-4D3A-411F-F782F8049532}"/>
              </a:ext>
            </a:extLst>
          </p:cNvPr>
          <p:cNvSpPr/>
          <p:nvPr/>
        </p:nvSpPr>
        <p:spPr>
          <a:xfrm>
            <a:off x="1251857" y="1404258"/>
            <a:ext cx="2688772" cy="89262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Regional Performance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826569-0C38-5BF1-E498-5E59BE29F128}"/>
              </a:ext>
            </a:extLst>
          </p:cNvPr>
          <p:cNvSpPr/>
          <p:nvPr/>
        </p:nvSpPr>
        <p:spPr>
          <a:xfrm>
            <a:off x="7848600" y="1404258"/>
            <a:ext cx="2852057" cy="89262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D63F840-5B29-E880-3458-A057FBC005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0470368"/>
              </p:ext>
            </p:extLst>
          </p:nvPr>
        </p:nvGraphicFramePr>
        <p:xfrm>
          <a:off x="845457" y="2879876"/>
          <a:ext cx="4521200" cy="355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BD9C3ED-D7E4-D431-AB36-758EC271B5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049436"/>
              </p:ext>
            </p:extLst>
          </p:nvPr>
        </p:nvGraphicFramePr>
        <p:xfrm>
          <a:off x="6651170" y="2879876"/>
          <a:ext cx="5007430" cy="355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56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5A48D-DB2F-273F-4E5B-8A005D12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81000"/>
            <a:ext cx="9601200" cy="118654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002060"/>
                </a:solidFill>
                <a:latin typeface="Arial Black" panose="020B0A04020102020204" pitchFamily="34" charset="0"/>
              </a:rPr>
              <a:t>Home Office Leads Customer Sales as Performance Fluctuates Across the Year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3DA3CFF-DDB0-DEAB-CE6D-F3746907C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193022"/>
              </p:ext>
            </p:extLst>
          </p:nvPr>
        </p:nvGraphicFramePr>
        <p:xfrm>
          <a:off x="11852275" y="928688"/>
          <a:ext cx="46038" cy="46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A15A78-096C-283F-3FB2-75B7ADADAF93}"/>
              </a:ext>
            </a:extLst>
          </p:cNvPr>
          <p:cNvSpPr txBox="1"/>
          <p:nvPr/>
        </p:nvSpPr>
        <p:spPr>
          <a:xfrm>
            <a:off x="1458686" y="1567543"/>
            <a:ext cx="6725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</a:rPr>
              <a:t>Customer-segment contribution and monthly sales trends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1CDA10-E811-2CAF-8423-A9CDEBF2FAE7}"/>
              </a:ext>
            </a:extLst>
          </p:cNvPr>
          <p:cNvSpPr/>
          <p:nvPr/>
        </p:nvSpPr>
        <p:spPr>
          <a:xfrm>
            <a:off x="1295400" y="2155371"/>
            <a:ext cx="2841171" cy="857310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 SEGMENT Sales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0F2FE5D-46BF-F271-C576-DF38E7A1B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104003"/>
              </p:ext>
            </p:extLst>
          </p:nvPr>
        </p:nvGraphicFramePr>
        <p:xfrm>
          <a:off x="1295400" y="3429000"/>
          <a:ext cx="4397831" cy="2830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AB47897-979A-AE83-6F42-6F4B975C88CA}"/>
              </a:ext>
            </a:extLst>
          </p:cNvPr>
          <p:cNvSpPr/>
          <p:nvPr/>
        </p:nvSpPr>
        <p:spPr>
          <a:xfrm>
            <a:off x="7609114" y="2155370"/>
            <a:ext cx="2917372" cy="857311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MONTHLY SALES TREND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DF12B11-A26A-D90C-2797-598FE84F3B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0964196"/>
              </p:ext>
            </p:extLst>
          </p:nvPr>
        </p:nvGraphicFramePr>
        <p:xfrm>
          <a:off x="6498770" y="3428999"/>
          <a:ext cx="5138059" cy="2830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43689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9260-29B8-5D49-EDF7-BF153093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559" y="1066800"/>
            <a:ext cx="8588584" cy="435429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Top-selling products identified from product-level sales analysis</a:t>
            </a:r>
            <a:endParaRPr lang="en-IN" sz="24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5A238DC-53FC-8FFF-A67B-1AA30C031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922491"/>
              </p:ext>
            </p:extLst>
          </p:nvPr>
        </p:nvGraphicFramePr>
        <p:xfrm>
          <a:off x="1230087" y="2024741"/>
          <a:ext cx="5312228" cy="3135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4EB52C-47F2-0EA5-1970-DC2DA96BD78E}"/>
              </a:ext>
            </a:extLst>
          </p:cNvPr>
          <p:cNvSpPr txBox="1"/>
          <p:nvPr/>
        </p:nvSpPr>
        <p:spPr>
          <a:xfrm>
            <a:off x="703570" y="307461"/>
            <a:ext cx="11373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A Few Products Drive a Significant Share of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F8DD0-9B95-26DE-04B9-FBB8CBC128E0}"/>
              </a:ext>
            </a:extLst>
          </p:cNvPr>
          <p:cNvSpPr txBox="1"/>
          <p:nvPr/>
        </p:nvSpPr>
        <p:spPr>
          <a:xfrm>
            <a:off x="1240559" y="5319433"/>
            <a:ext cx="1095144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BUSINESS INSIGHT</a:t>
            </a:r>
          </a:p>
          <a:p>
            <a:endParaRPr lang="en-IN" sz="1400" b="1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Top-selling products should receive priority in inventory planning and can be used for cross-selling and bundled offers</a:t>
            </a:r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2A0E1-BD76-9655-B3DB-4CACAC4F4B3F}"/>
              </a:ext>
            </a:extLst>
          </p:cNvPr>
          <p:cNvSpPr/>
          <p:nvPr/>
        </p:nvSpPr>
        <p:spPr>
          <a:xfrm>
            <a:off x="7598230" y="2275114"/>
            <a:ext cx="4180114" cy="22642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₹61.6K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Highest-selling product</a:t>
            </a:r>
          </a:p>
          <a:p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Canon </a:t>
            </a:r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imageCLASS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2200 Advanced Copier</a:t>
            </a:r>
          </a:p>
        </p:txBody>
      </p:sp>
    </p:spTree>
    <p:extLst>
      <p:ext uri="{BB962C8B-B14F-4D97-AF65-F5344CB8AC3E}">
        <p14:creationId xmlns:p14="http://schemas.microsoft.com/office/powerpoint/2010/main" val="141856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9424-7F59-FA85-61A0-BBB4034E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257" y="326571"/>
            <a:ext cx="9601200" cy="105591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Arial Black" panose="020B0A04020102020204" pitchFamily="34" charset="0"/>
              </a:rPr>
              <a:t>Higher Discounts Are Driving the Business Into Negative Profit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D8AC355-2C75-27CA-EDA6-91893A5EFC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881876"/>
              </p:ext>
            </p:extLst>
          </p:nvPr>
        </p:nvGraphicFramePr>
        <p:xfrm>
          <a:off x="1491797" y="2252663"/>
          <a:ext cx="5856060" cy="2928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C092C4-D71E-06F3-8ED7-70192EB7732C}"/>
              </a:ext>
            </a:extLst>
          </p:cNvPr>
          <p:cNvSpPr txBox="1"/>
          <p:nvPr/>
        </p:nvSpPr>
        <p:spPr>
          <a:xfrm>
            <a:off x="1774372" y="1524782"/>
            <a:ext cx="733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Profitability declines sharply as discount levels increase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B36A0-B913-DAEE-2502-17171C809A3B}"/>
              </a:ext>
            </a:extLst>
          </p:cNvPr>
          <p:cNvSpPr txBox="1"/>
          <p:nvPr/>
        </p:nvSpPr>
        <p:spPr>
          <a:xfrm>
            <a:off x="7460198" y="2252663"/>
            <a:ext cx="45794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30%+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Discount Risk Threshold</a:t>
            </a:r>
          </a:p>
          <a:p>
            <a:r>
              <a:rPr lang="en-IN" dirty="0">
                <a:solidFill>
                  <a:schemeClr val="accent3"/>
                </a:solidFill>
              </a:rPr>
              <a:t>Discounts of 30% and above are associated with negative total profit in the analysed data.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−₹40.1K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Profit at 70% discount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D997D-BA2D-BF6F-0604-C1BA943AF81B}"/>
              </a:ext>
            </a:extLst>
          </p:cNvPr>
          <p:cNvSpPr txBox="1"/>
          <p:nvPr/>
        </p:nvSpPr>
        <p:spPr>
          <a:xfrm>
            <a:off x="1197429" y="5388429"/>
            <a:ext cx="1059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MANAGEMENT ACTION</a:t>
            </a:r>
          </a:p>
          <a:p>
            <a:r>
              <a:rPr lang="en-IN" b="1" dirty="0"/>
              <a:t>Introduce tighter controls for discounts of 30% and above and evaluate profitability before approving high-discount transactions.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110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92EC-ED20-BCD7-291C-B76B5AC53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9229"/>
            <a:ext cx="9601200" cy="555171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002060"/>
                </a:solidFill>
                <a:latin typeface="Arial Black" panose="020B0A04020102020204" pitchFamily="34" charset="0"/>
              </a:rPr>
              <a:t>Five Insights Stand Out From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D80A-A513-FA9F-227F-E1CF79D2F3C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4249400" y="1591212"/>
            <a:ext cx="87086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25926-0A0B-BF0D-3C0E-148EF28EAA6C}"/>
              </a:ext>
            </a:extLst>
          </p:cNvPr>
          <p:cNvSpPr txBox="1"/>
          <p:nvPr/>
        </p:nvSpPr>
        <p:spPr>
          <a:xfrm>
            <a:off x="1371600" y="990600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The analysis highlights where the business is performing well and where improvement is needed</a:t>
            </a:r>
            <a:r>
              <a:rPr lang="en-IN" dirty="0"/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19E6F9-9755-03F6-AE0E-322E5FC24D09}"/>
              </a:ext>
            </a:extLst>
          </p:cNvPr>
          <p:cNvSpPr/>
          <p:nvPr/>
        </p:nvSpPr>
        <p:spPr>
          <a:xfrm>
            <a:off x="1632859" y="2046511"/>
            <a:ext cx="2667000" cy="202881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₹22.97 L</a:t>
            </a:r>
          </a:p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</a:t>
            </a: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Strong revenue, with profitability upside.</a:t>
            </a:r>
            <a:endParaRPr lang="en-IN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45DC8C-62A0-25F0-A57F-10357CD30917}"/>
              </a:ext>
            </a:extLst>
          </p:cNvPr>
          <p:cNvSpPr/>
          <p:nvPr/>
        </p:nvSpPr>
        <p:spPr>
          <a:xfrm>
            <a:off x="4974772" y="2046511"/>
            <a:ext cx="2841172" cy="202881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12.47%</a:t>
            </a:r>
          </a:p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PROFIT MARGIN</a:t>
            </a: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Improve margins through pricing and discount control.</a:t>
            </a:r>
            <a:endParaRPr lang="en-IN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A7E4F5-0FA9-F226-870F-0740E7409E05}"/>
              </a:ext>
            </a:extLst>
          </p:cNvPr>
          <p:cNvSpPr/>
          <p:nvPr/>
        </p:nvSpPr>
        <p:spPr>
          <a:xfrm>
            <a:off x="8490857" y="2046512"/>
            <a:ext cx="2743200" cy="202881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WEST</a:t>
            </a:r>
            <a:endParaRPr lang="en-IN" dirty="0"/>
          </a:p>
          <a:p>
            <a:pPr algn="ctr"/>
            <a:r>
              <a:rPr lang="en-IN" b="1" dirty="0"/>
              <a:t>TOP REGION</a:t>
            </a:r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West leads regional performance.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3C779E-39C5-EF26-DDD1-384FBBA0676B}"/>
              </a:ext>
            </a:extLst>
          </p:cNvPr>
          <p:cNvSpPr/>
          <p:nvPr/>
        </p:nvSpPr>
        <p:spPr>
          <a:xfrm>
            <a:off x="3162303" y="4469954"/>
            <a:ext cx="2667001" cy="20288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TECHNOLOGY</a:t>
            </a:r>
            <a:endParaRPr lang="en-IN" dirty="0"/>
          </a:p>
          <a:p>
            <a:pPr algn="ctr"/>
            <a:r>
              <a:rPr lang="en-IN" b="1" dirty="0"/>
              <a:t>TOP CATEGORY</a:t>
            </a:r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Technology leads and remains a key focus area.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6834F7-6137-4FC3-B933-44440A8090B3}"/>
              </a:ext>
            </a:extLst>
          </p:cNvPr>
          <p:cNvSpPr/>
          <p:nvPr/>
        </p:nvSpPr>
        <p:spPr>
          <a:xfrm>
            <a:off x="6847115" y="4484909"/>
            <a:ext cx="2743201" cy="20288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30%+</a:t>
            </a:r>
          </a:p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DISCOUNT RISK</a:t>
            </a: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30%+ discounts are linked to negative profit.</a:t>
            </a:r>
            <a:endParaRPr lang="en-IN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2823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8826-FCCD-0DD4-38A5-8015E37A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0115"/>
            <a:ext cx="9601200" cy="4245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Prioritize Profitability While Scaling What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6B39-AD1C-94D0-1E91-C005163282C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3781314" y="843643"/>
            <a:ext cx="45719" cy="293914"/>
          </a:xfrm>
        </p:spPr>
        <p:txBody>
          <a:bodyPr>
            <a:normAutofit fontScale="85000" lnSpcReduction="20000"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645E0-3C0A-B351-355C-BBFC2B568149}"/>
              </a:ext>
            </a:extLst>
          </p:cNvPr>
          <p:cNvSpPr txBox="1"/>
          <p:nvPr/>
        </p:nvSpPr>
        <p:spPr>
          <a:xfrm>
            <a:off x="3037114" y="790545"/>
            <a:ext cx="5596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Four actions emerge from the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2F024F-18A7-15D5-FAA3-39247E788AEF}"/>
              </a:ext>
            </a:extLst>
          </p:cNvPr>
          <p:cNvSpPr/>
          <p:nvPr/>
        </p:nvSpPr>
        <p:spPr>
          <a:xfrm>
            <a:off x="1371599" y="1378374"/>
            <a:ext cx="2841171" cy="20506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 HIGH DISCOUNTS </a:t>
            </a: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30%+ discounts require tighter controls.</a:t>
            </a:r>
          </a:p>
          <a:p>
            <a:pPr algn="ctr"/>
            <a:r>
              <a:rPr lang="en-IN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94A0C1-C535-427C-B746-2ED765B0E2D1}"/>
              </a:ext>
            </a:extLst>
          </p:cNvPr>
          <p:cNvSpPr/>
          <p:nvPr/>
        </p:nvSpPr>
        <p:spPr>
          <a:xfrm>
            <a:off x="4724399" y="1393372"/>
            <a:ext cx="2993571" cy="20356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PROTECT TOP-SELLING PRODUCTS </a:t>
            </a:r>
          </a:p>
          <a:p>
            <a:pPr algn="ctr"/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Maintain inventory and explore cross- selling.</a:t>
            </a:r>
          </a:p>
          <a:p>
            <a:pPr algn="ctr"/>
            <a:r>
              <a:rPr lang="en-US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</a:t>
            </a:r>
            <a:endParaRPr lang="en-IN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2BC1A3-B4B2-7044-15B8-5FF89D83376A}"/>
              </a:ext>
            </a:extLst>
          </p:cNvPr>
          <p:cNvSpPr/>
          <p:nvPr/>
        </p:nvSpPr>
        <p:spPr>
          <a:xfrm>
            <a:off x="8186057" y="1378374"/>
            <a:ext cx="3418115" cy="20506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STRENGTHEN WEAKER MARKETS</a:t>
            </a:r>
          </a:p>
          <a:p>
            <a:pPr algn="ctr"/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Target weaker regions while maintaining west’s performance.</a:t>
            </a:r>
          </a:p>
          <a:p>
            <a:pPr algn="ctr"/>
            <a:r>
              <a:rPr lang="en-US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MEDIUM</a:t>
            </a:r>
            <a:endParaRPr lang="en-IN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E819C5-1C00-FEA6-EDF4-99812A238652}"/>
              </a:ext>
            </a:extLst>
          </p:cNvPr>
          <p:cNvSpPr/>
          <p:nvPr/>
        </p:nvSpPr>
        <p:spPr>
          <a:xfrm>
            <a:off x="1371599" y="3616719"/>
            <a:ext cx="10178144" cy="1205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IMPROVE PRODUCT MIX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Focus on Technology and review weaker categories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MEDIUM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91D9B-27FB-8650-697F-438D263DB613}"/>
              </a:ext>
            </a:extLst>
          </p:cNvPr>
          <p:cNvSpPr txBox="1"/>
          <p:nvPr/>
        </p:nvSpPr>
        <p:spPr>
          <a:xfrm>
            <a:off x="1295401" y="5334000"/>
            <a:ext cx="10488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FINAL MANAGEMENT TAKEAWAY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business has a strong revenue base, but the biggest immediate opportunity is to protect profitability by controlling high discounts while continuing to invest in high-performing products, regions and categories.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053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</TotalTime>
  <Words>482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Black</vt:lpstr>
      <vt:lpstr>Arial Narrow</vt:lpstr>
      <vt:lpstr>Franklin Gothic Book</vt:lpstr>
      <vt:lpstr>Wingdings</vt:lpstr>
      <vt:lpstr>Crop</vt:lpstr>
      <vt:lpstr>RETAIL SALES &amp; PROFITABILITY ANALYSIS</vt:lpstr>
      <vt:lpstr>Understanding Sales Performance and Profitability</vt:lpstr>
      <vt:lpstr>From Raw Transactions to Business Insights</vt:lpstr>
      <vt:lpstr>A Profitable Business with Room to Improve Margins</vt:lpstr>
      <vt:lpstr>West Leads Regional Performance, While Technology Drives Category Results</vt:lpstr>
      <vt:lpstr>Home Office Leads Customer Sales as Performance Fluctuates Across the Year</vt:lpstr>
      <vt:lpstr>Top-selling products identified from product-level sales analysis</vt:lpstr>
      <vt:lpstr>Higher Discounts Are Driving the Business Into Negative Profit</vt:lpstr>
      <vt:lpstr>Five Insights Stand Out From the Analysis</vt:lpstr>
      <vt:lpstr>Prioritize Profitability While Scaling What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manvi sharma</dc:creator>
  <cp:lastModifiedBy>manvi sharma</cp:lastModifiedBy>
  <cp:revision>2</cp:revision>
  <dcterms:created xsi:type="dcterms:W3CDTF">2026-08-30T16:53:19Z</dcterms:created>
  <dcterms:modified xsi:type="dcterms:W3CDTF">2026-09-05T08:39:29Z</dcterms:modified>
</cp:coreProperties>
</file>