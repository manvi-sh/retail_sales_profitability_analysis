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2877" autoAdjust="0"/>
  </p:normalViewPr>
  <p:slideViewPr>
    <p:cSldViewPr snapToGrid="0">
      <p:cViewPr varScale="1">
        <p:scale>
          <a:sx n="59" d="100"/>
          <a:sy n="59" d="100"/>
        </p:scale>
        <p:origin x="96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Sales</a:t>
            </a:r>
            <a:r>
              <a:rPr lang="en-US" baseline="0" dirty="0"/>
              <a:t> By Region</a:t>
            </a:r>
            <a:endParaRPr lang="en-IN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Sales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Central</c:v>
                </c:pt>
                <c:pt idx="1">
                  <c:v>East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Sheet1!$B$2:$B$5</c:f>
              <c:numCache>
                <c:formatCode>"₹"\ #,##0.00</c:formatCode>
                <c:ptCount val="4"/>
                <c:pt idx="0">
                  <c:v>501239.89080000098</c:v>
                </c:pt>
                <c:pt idx="1">
                  <c:v>678781.23999999953</c:v>
                </c:pt>
                <c:pt idx="2">
                  <c:v>391721.90500000044</c:v>
                </c:pt>
                <c:pt idx="3">
                  <c:v>725457.82450000162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895-439D-81C9-2032EA3FBD0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446069344"/>
        <c:axId val="1358283248"/>
      </c:barChart>
      <c:catAx>
        <c:axId val="14460693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58283248"/>
        <c:crosses val="autoZero"/>
        <c:auto val="1"/>
        <c:lblAlgn val="ctr"/>
        <c:lblOffset val="100"/>
        <c:noMultiLvlLbl val="0"/>
      </c:catAx>
      <c:valAx>
        <c:axId val="13582832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&quot;₹&quot;\ #,##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4606934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Sales</a:t>
            </a:r>
            <a:r>
              <a:rPr lang="en-US" baseline="0" dirty="0"/>
              <a:t> By Category</a:t>
            </a:r>
            <a:endParaRPr lang="en-IN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Sales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3"/>
                <c:pt idx="0">
                  <c:v>Furniture</c:v>
                </c:pt>
                <c:pt idx="1">
                  <c:v>Office Supplies</c:v>
                </c:pt>
                <c:pt idx="2">
                  <c:v>Technology</c:v>
                </c:pt>
              </c:strCache>
              <c:extLst/>
            </c:strRef>
          </c:cat>
          <c:val>
            <c:numRef>
              <c:f>Sheet1!$B$2:$B$5</c:f>
              <c:numCache>
                <c:formatCode>"₹"\ #,##0.00</c:formatCode>
                <c:ptCount val="3"/>
                <c:pt idx="0">
                  <c:v>741999.79529999872</c:v>
                </c:pt>
                <c:pt idx="1">
                  <c:v>719047.03200000082</c:v>
                </c:pt>
                <c:pt idx="2">
                  <c:v>836154.03299999866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0-C7EB-44F6-AA2C-21AAA7767B7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837415952"/>
        <c:axId val="1449143728"/>
      </c:barChart>
      <c:catAx>
        <c:axId val="18374159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49143728"/>
        <c:crosses val="autoZero"/>
        <c:auto val="1"/>
        <c:lblAlgn val="ctr"/>
        <c:lblOffset val="100"/>
        <c:noMultiLvlLbl val="0"/>
      </c:catAx>
      <c:valAx>
        <c:axId val="144914372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&quot;₹&quot;\ #,##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3741595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3D3-4C3F-A844-A2ABDB7B4FA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3D3-4C3F-A844-A2ABDB7B4FA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3D3-4C3F-A844-A2ABDB7B4FA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833933744"/>
        <c:axId val="1449152848"/>
      </c:barChart>
      <c:catAx>
        <c:axId val="183393374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49152848"/>
        <c:crosses val="autoZero"/>
        <c:auto val="1"/>
        <c:lblAlgn val="ctr"/>
        <c:lblOffset val="100"/>
        <c:noMultiLvlLbl val="0"/>
      </c:catAx>
      <c:valAx>
        <c:axId val="144915284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3393374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862" b="0" i="0" u="none" strike="noStrike" baseline="0" dirty="0"/>
              <a:t>Monthly Sales Trend</a:t>
            </a:r>
            <a:endParaRPr lang="en-IN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January</c:v>
                </c:pt>
                <c:pt idx="1">
                  <c:v>February</c:v>
                </c:pt>
                <c:pt idx="2">
                  <c:v>March</c:v>
                </c:pt>
                <c:pt idx="3">
                  <c:v>April</c:v>
                </c:pt>
                <c:pt idx="4">
                  <c:v>May</c:v>
                </c:pt>
                <c:pt idx="5">
                  <c:v>June</c:v>
                </c:pt>
                <c:pt idx="6">
                  <c:v>July</c:v>
                </c:pt>
                <c:pt idx="7">
                  <c:v>August</c:v>
                </c:pt>
                <c:pt idx="8">
                  <c:v>September</c:v>
                </c:pt>
                <c:pt idx="9">
                  <c:v>October</c:v>
                </c:pt>
                <c:pt idx="10">
                  <c:v>November</c:v>
                </c:pt>
                <c:pt idx="11">
                  <c:v>December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95524.566399999923</c:v>
                </c:pt>
                <c:pt idx="1">
                  <c:v>105139.12400000008</c:v>
                </c:pt>
                <c:pt idx="2">
                  <c:v>72319.924599999984</c:v>
                </c:pt>
                <c:pt idx="3">
                  <c:v>68162.339000000007</c:v>
                </c:pt>
                <c:pt idx="4">
                  <c:v>64520.508800000018</c:v>
                </c:pt>
                <c:pt idx="5">
                  <c:v>53306.857999999927</c:v>
                </c:pt>
                <c:pt idx="6">
                  <c:v>62610.906500000026</c:v>
                </c:pt>
                <c:pt idx="7">
                  <c:v>101577.95059999988</c:v>
                </c:pt>
                <c:pt idx="8">
                  <c:v>66582.364999999991</c:v>
                </c:pt>
                <c:pt idx="9">
                  <c:v>62993.840999999971</c:v>
                </c:pt>
                <c:pt idx="10">
                  <c:v>69615.231499999965</c:v>
                </c:pt>
                <c:pt idx="11">
                  <c:v>65563.696199999962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DB2-477E-B9DE-F11C41EF71C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Profit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January</c:v>
                </c:pt>
                <c:pt idx="1">
                  <c:v>February</c:v>
                </c:pt>
                <c:pt idx="2">
                  <c:v>March</c:v>
                </c:pt>
                <c:pt idx="3">
                  <c:v>April</c:v>
                </c:pt>
                <c:pt idx="4">
                  <c:v>May</c:v>
                </c:pt>
                <c:pt idx="5">
                  <c:v>June</c:v>
                </c:pt>
                <c:pt idx="6">
                  <c:v>July</c:v>
                </c:pt>
                <c:pt idx="7">
                  <c:v>August</c:v>
                </c:pt>
                <c:pt idx="8">
                  <c:v>September</c:v>
                </c:pt>
                <c:pt idx="9">
                  <c:v>October</c:v>
                </c:pt>
                <c:pt idx="10">
                  <c:v>November</c:v>
                </c:pt>
                <c:pt idx="11">
                  <c:v>December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17006.774999999983</c:v>
                </c:pt>
                <c:pt idx="1">
                  <c:v>19441.090699999982</c:v>
                </c:pt>
                <c:pt idx="2">
                  <c:v>7090.5232999999998</c:v>
                </c:pt>
                <c:pt idx="3">
                  <c:v>6873.6365999999925</c:v>
                </c:pt>
                <c:pt idx="4">
                  <c:v>7498.2937999999995</c:v>
                </c:pt>
                <c:pt idx="5">
                  <c:v>7489.6977999999999</c:v>
                </c:pt>
                <c:pt idx="6">
                  <c:v>3773.0899999999979</c:v>
                </c:pt>
                <c:pt idx="7">
                  <c:v>12088.527899999997</c:v>
                </c:pt>
                <c:pt idx="8">
                  <c:v>9917.1628000000073</c:v>
                </c:pt>
                <c:pt idx="9">
                  <c:v>5315.2909000000072</c:v>
                </c:pt>
                <c:pt idx="10">
                  <c:v>6871.5326999999925</c:v>
                </c:pt>
                <c:pt idx="11">
                  <c:v>5437.6935999999996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DB2-477E-B9DE-F11C41EF71C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964606656"/>
        <c:axId val="1449162928"/>
      </c:lineChart>
      <c:catAx>
        <c:axId val="196460665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49162928"/>
        <c:crosses val="autoZero"/>
        <c:auto val="1"/>
        <c:lblAlgn val="ctr"/>
        <c:lblOffset val="100"/>
        <c:noMultiLvlLbl val="0"/>
      </c:catAx>
      <c:valAx>
        <c:axId val="144916292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6460665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2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Sales Chart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chemeClr val="accent1"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D099-48A0-93D2-8C126B992475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1197" b="1" i="0" u="none" strike="noStrike" baseline="0" dirty="0"/>
                      <a:t>₹7.06L</a:t>
                    </a:r>
                    <a:endParaRPr lang="en-US" dirty="0"/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D099-48A0-93D2-8C126B992475}"/>
                </c:ext>
              </c:extLst>
            </c:dLbl>
            <c:dLbl>
              <c:idx val="2"/>
              <c:layout>
                <c:manualLayout>
                  <c:x val="-0.143181813436802"/>
                  <c:y val="2.8124993079480048E-2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0">
                    <a:sp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sz="1197" b="1" i="0" u="none" strike="noStrike" kern="1200" baseline="0">
                        <a:solidFill>
                          <a:prstClr val="white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lang="en-US" b="1" dirty="0"/>
                      <a:t>₹4.30L</a:t>
                    </a:r>
                    <a:endParaRPr lang="en-US" dirty="0"/>
                  </a:p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>
                        <a:solidFill>
                          <a:prstClr val="white"/>
                        </a:solidFill>
                      </a:defRPr>
                    </a:pPr>
                    <a:endParaRPr lang="en-US" dirty="0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1197" b="1" i="0" u="none" strike="noStrike" kern="1200" baseline="0">
                      <a:solidFill>
                        <a:prstClr val="white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D099-48A0-93D2-8C126B99247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Consumer</c:v>
                </c:pt>
                <c:pt idx="1">
                  <c:v>Corporate</c:v>
                </c:pt>
                <c:pt idx="2">
                  <c:v>Home Office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1161401.3449999923</c:v>
                </c:pt>
                <c:pt idx="1">
                  <c:v>706146.36679999961</c:v>
                </c:pt>
                <c:pt idx="2">
                  <c:v>429653.1484999996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099-48A0-93D2-8C126B992475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65"/>
        <c:axId val="2134150000"/>
        <c:axId val="2093832208"/>
      </c:barChart>
      <c:catAx>
        <c:axId val="213415000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93832208"/>
        <c:crosses val="autoZero"/>
        <c:auto val="1"/>
        <c:lblAlgn val="ctr"/>
        <c:lblOffset val="100"/>
        <c:noMultiLvlLbl val="0"/>
      </c:catAx>
      <c:valAx>
        <c:axId val="2093832208"/>
        <c:scaling>
          <c:orientation val="minMax"/>
        </c:scaling>
        <c:delete val="0"/>
        <c:axPos val="b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95000"/>
                      <a:lumOff val="5000"/>
                      <a:alpha val="42000"/>
                    </a:schemeClr>
                  </a:gs>
                  <a:gs pos="0">
                    <a:schemeClr val="lt1">
                      <a:lumMod val="75000"/>
                      <a:alpha val="36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3415000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862" b="1" i="0" u="none" strike="noStrike" baseline="0" dirty="0"/>
              <a:t>Top 5 Products by Sales</a:t>
            </a:r>
            <a:endParaRPr lang="en-US" b="1" dirty="0"/>
          </a:p>
        </c:rich>
      </c:tx>
      <c:layout>
        <c:manualLayout>
          <c:xMode val="edge"/>
          <c:yMode val="edge"/>
          <c:x val="1.9460981417922567E-2"/>
          <c:y val="3.6687611344733841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Sales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Canon imageCLASS 2200 Advanced Copier</c:v>
                </c:pt>
                <c:pt idx="1">
                  <c:v>Fellowes PB500 Electric Punch Plastic Comb Binding Machine with Manual Bind</c:v>
                </c:pt>
                <c:pt idx="2">
                  <c:v>Cisco TelePresence System EX90 Videoconferencing Unit</c:v>
                </c:pt>
                <c:pt idx="3">
                  <c:v>HON 5400 Series Task Chairs for Big and Tall</c:v>
                </c:pt>
                <c:pt idx="4">
                  <c:v>GBC DocuBind TL300 Electric Binding System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61599.824000000001</c:v>
                </c:pt>
                <c:pt idx="1">
                  <c:v>27453.383999999998</c:v>
                </c:pt>
                <c:pt idx="2">
                  <c:v>22638.48</c:v>
                </c:pt>
                <c:pt idx="3">
                  <c:v>21870.576000000001</c:v>
                </c:pt>
                <c:pt idx="4">
                  <c:v>19823.478999999999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D3C-4281-A794-85655A4FEED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964652592"/>
        <c:axId val="1449145648"/>
      </c:barChart>
      <c:catAx>
        <c:axId val="196465259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1197" b="0" i="0" u="none" strike="noStrike" kern="1200" baseline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49145648"/>
        <c:crosses val="autoZero"/>
        <c:auto val="0"/>
        <c:lblAlgn val="ctr"/>
        <c:lblOffset val="100"/>
        <c:noMultiLvlLbl val="0"/>
      </c:catAx>
      <c:valAx>
        <c:axId val="144914564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6465259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3246722198884575"/>
          <c:y val="4.2439287700623135E-2"/>
          <c:w val="0.88243999904889059"/>
          <c:h val="0.7874589972183849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Sales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Sheet1!$A$2:$A$10</c:f>
              <c:numCache>
                <c:formatCode>0%</c:formatCode>
                <c:ptCount val="9"/>
                <c:pt idx="0">
                  <c:v>0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0.8</c:v>
                </c:pt>
              </c:numCache>
            </c:num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1087908.4699999879</c:v>
                </c:pt>
                <c:pt idx="1">
                  <c:v>54369.351000000031</c:v>
                </c:pt>
                <c:pt idx="2">
                  <c:v>764594.36800000549</c:v>
                </c:pt>
                <c:pt idx="3">
                  <c:v>103226.65499999998</c:v>
                </c:pt>
                <c:pt idx="4">
                  <c:v>116417.78400000009</c:v>
                </c:pt>
                <c:pt idx="5">
                  <c:v>58918.539999999994</c:v>
                </c:pt>
                <c:pt idx="6">
                  <c:v>6644.7000000000035</c:v>
                </c:pt>
                <c:pt idx="7">
                  <c:v>40620.282000000079</c:v>
                </c:pt>
                <c:pt idx="8">
                  <c:v>16963.75599999999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743-4344-AF64-4909D17E461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Total Profit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numRef>
              <c:f>Sheet1!$A$2:$A$10</c:f>
              <c:numCache>
                <c:formatCode>0%</c:formatCode>
                <c:ptCount val="9"/>
                <c:pt idx="0">
                  <c:v>0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0.8</c:v>
                </c:pt>
              </c:numCache>
            </c:numRef>
          </c:cat>
          <c:val>
            <c:numRef>
              <c:f>Sheet1!$C$2:$C$10</c:f>
              <c:numCache>
                <c:formatCode>General</c:formatCode>
                <c:ptCount val="9"/>
                <c:pt idx="0">
                  <c:v>320987.60320000013</c:v>
                </c:pt>
                <c:pt idx="1">
                  <c:v>9029.1770000000015</c:v>
                </c:pt>
                <c:pt idx="2">
                  <c:v>90337.306000000142</c:v>
                </c:pt>
                <c:pt idx="3">
                  <c:v>-10369.277399999994</c:v>
                </c:pt>
                <c:pt idx="4">
                  <c:v>-23057.050400000011</c:v>
                </c:pt>
                <c:pt idx="5">
                  <c:v>-20506.428100000001</c:v>
                </c:pt>
                <c:pt idx="6">
                  <c:v>-5944.6551999999983</c:v>
                </c:pt>
                <c:pt idx="7">
                  <c:v>-40075.356899999999</c:v>
                </c:pt>
                <c:pt idx="8">
                  <c:v>-30539.039199999985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743-4344-AF64-4909D17E461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964702704"/>
        <c:axId val="1358299088"/>
      </c:barChart>
      <c:catAx>
        <c:axId val="1964702704"/>
        <c:scaling>
          <c:orientation val="minMax"/>
        </c:scaling>
        <c:delete val="0"/>
        <c:axPos val="b"/>
        <c:numFmt formatCode="0%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58299088"/>
        <c:crosses val="autoZero"/>
        <c:auto val="1"/>
        <c:lblAlgn val="ctr"/>
        <c:lblOffset val="100"/>
        <c:noMultiLvlLbl val="0"/>
      </c:catAx>
      <c:valAx>
        <c:axId val="135829908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6470270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withinLinearReversed" id="22">
  <a:schemeClr val="accent2"/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18">
  <cs:axisTitle>
    <cs:lnRef idx="0"/>
    <cs:fillRef idx="0"/>
    <cs:effectRef idx="0"/>
    <cs:fontRef idx="minor">
      <a:schemeClr val="dk1">
        <a:lumMod val="75000"/>
        <a:lumOff val="2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defRPr sz="1197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1197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22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6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9/5/2026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9/5/2026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9/5/2026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9/5/2026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9/5/2026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9/5/2026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9/5/2026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9/5/2026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9/5/2026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9/5/2026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9/5/2026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9/5/2026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14AD2-08FB-6E50-1742-6BA69EB137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86147" y="1153886"/>
            <a:ext cx="8361229" cy="1709058"/>
          </a:xfrm>
        </p:spPr>
        <p:txBody>
          <a:bodyPr/>
          <a:lstStyle/>
          <a:p>
            <a:r>
              <a:rPr lang="en-IN" sz="4000" b="1" spc="-150" dirty="0">
                <a:solidFill>
                  <a:srgbClr val="002060"/>
                </a:solidFill>
                <a:latin typeface="Arial Black" panose="020B0A04020102020204" pitchFamily="34" charset="0"/>
              </a:rPr>
              <a:t>RETAIL SALES &amp; PROFITABILITY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D0F1A2-6044-A8EA-C568-0880AC075B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44105" y="3429000"/>
            <a:ext cx="7903271" cy="740228"/>
          </a:xfrm>
        </p:spPr>
        <p:txBody>
          <a:bodyPr>
            <a:normAutofit fontScale="85000" lnSpcReduction="10000"/>
          </a:bodyPr>
          <a:lstStyle/>
          <a:p>
            <a:r>
              <a:rPr lang="en-IN" sz="3200" b="1" u="sng" dirty="0">
                <a:solidFill>
                  <a:srgbClr val="002060"/>
                </a:solidFill>
                <a:latin typeface="Arial Black" panose="020B0A04020102020204" pitchFamily="34" charset="0"/>
              </a:rPr>
              <a:t>Excel-Based Business Analytics Project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BD5867-6CC4-E367-EEE2-4DC0B8840B7F}"/>
              </a:ext>
            </a:extLst>
          </p:cNvPr>
          <p:cNvSpPr txBox="1"/>
          <p:nvPr/>
        </p:nvSpPr>
        <p:spPr>
          <a:xfrm>
            <a:off x="2231311" y="4535229"/>
            <a:ext cx="77288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002060"/>
                </a:solidFill>
              </a:rPr>
              <a:t>Data Analysis • Business Insights • Dashboard • Recommendations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2B0065-E149-305B-F979-7A685C2801B3}"/>
              </a:ext>
            </a:extLst>
          </p:cNvPr>
          <p:cNvSpPr txBox="1"/>
          <p:nvPr/>
        </p:nvSpPr>
        <p:spPr>
          <a:xfrm>
            <a:off x="838200" y="155665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820742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B52233-F80C-BB97-50C1-7CCE1F8B98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3885" y="299357"/>
            <a:ext cx="10646229" cy="593271"/>
          </a:xfrm>
        </p:spPr>
        <p:txBody>
          <a:bodyPr>
            <a:noAutofit/>
          </a:bodyPr>
          <a:lstStyle/>
          <a:p>
            <a:r>
              <a:rPr lang="en-IN" sz="2800" b="1" dirty="0">
                <a:solidFill>
                  <a:srgbClr val="002060"/>
                </a:solidFill>
                <a:latin typeface="Arial Black" panose="020B0A04020102020204" pitchFamily="34" charset="0"/>
              </a:rPr>
              <a:t>Understanding Sales Performance and Profitability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06A25E-2D8F-E991-C073-FFC5915BD653}"/>
              </a:ext>
            </a:extLst>
          </p:cNvPr>
          <p:cNvSpPr txBox="1"/>
          <p:nvPr/>
        </p:nvSpPr>
        <p:spPr>
          <a:xfrm>
            <a:off x="2016687" y="6085896"/>
            <a:ext cx="93943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solidFill>
                  <a:srgbClr val="002060"/>
                </a:solidFill>
                <a:highlight>
                  <a:srgbClr val="C0C0C0"/>
                </a:highlight>
              </a:rPr>
              <a:t>RAW DATA → ANALYSIS → DASHBOARD → INSIGHTS → RECOMMENDATIONS</a:t>
            </a:r>
          </a:p>
        </p:txBody>
      </p:sp>
      <p:sp>
        <p:nvSpPr>
          <p:cNvPr id="8" name="Scroll: Horizontal 7">
            <a:extLst>
              <a:ext uri="{FF2B5EF4-FFF2-40B4-BE49-F238E27FC236}">
                <a16:creationId xmlns:a16="http://schemas.microsoft.com/office/drawing/2014/main" id="{596CD5BA-78FE-DFD6-E405-5A4D775072C9}"/>
              </a:ext>
            </a:extLst>
          </p:cNvPr>
          <p:cNvSpPr/>
          <p:nvPr/>
        </p:nvSpPr>
        <p:spPr>
          <a:xfrm>
            <a:off x="1398814" y="1524390"/>
            <a:ext cx="4697186" cy="3929743"/>
          </a:xfrm>
          <a:prstGeom prst="horizontalScroll">
            <a:avLst/>
          </a:prstGeom>
          <a:ln>
            <a:solidFill>
              <a:srgbClr val="0070C0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rgbClr val="0070C0"/>
                </a:solidFill>
                <a:latin typeface="Arial Black" panose="020B0A04020102020204" pitchFamily="34" charset="0"/>
              </a:rPr>
              <a:t>Project focus</a:t>
            </a:r>
          </a:p>
          <a:p>
            <a:pPr algn="ctr"/>
            <a:endParaRPr lang="en-US" sz="3200" dirty="0">
              <a:ln w="0"/>
              <a:solidFill>
                <a:srgbClr val="0070C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 Black" panose="020B0A040201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Analyse sales &amp; profitability</a:t>
            </a:r>
            <a:endParaRPr lang="en-US" sz="2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 Narrow" panose="020B0606020202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Narrow" panose="020B0606020202030204" pitchFamily="34" charset="0"/>
              </a:rPr>
              <a:t>Identify Key Business Drivers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Narrow" panose="020B0606020202030204" pitchFamily="34" charset="0"/>
              </a:rPr>
              <a:t>Find areas for improvement</a:t>
            </a:r>
          </a:p>
          <a:p>
            <a:pPr algn="ctr"/>
            <a:endParaRPr lang="en-IN" dirty="0"/>
          </a:p>
        </p:txBody>
      </p:sp>
      <p:sp>
        <p:nvSpPr>
          <p:cNvPr id="12" name="Scroll: Horizontal 11">
            <a:extLst>
              <a:ext uri="{FF2B5EF4-FFF2-40B4-BE49-F238E27FC236}">
                <a16:creationId xmlns:a16="http://schemas.microsoft.com/office/drawing/2014/main" id="{DA1585E0-9740-51E2-6FEB-037AD1F3C51F}"/>
              </a:ext>
            </a:extLst>
          </p:cNvPr>
          <p:cNvSpPr/>
          <p:nvPr/>
        </p:nvSpPr>
        <p:spPr>
          <a:xfrm>
            <a:off x="6931585" y="1402473"/>
            <a:ext cx="4618157" cy="3929743"/>
          </a:xfrm>
          <a:prstGeom prst="horizontalScroll">
            <a:avLst/>
          </a:prstGeom>
          <a:solidFill>
            <a:schemeClr val="bg1">
              <a:lumMod val="95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rgbClr val="0070C0"/>
                </a:solidFill>
                <a:latin typeface="Arial Black" panose="020B0A04020102020204" pitchFamily="34" charset="0"/>
              </a:rPr>
              <a:t>Key Questions</a:t>
            </a:r>
          </a:p>
          <a:p>
            <a:pPr algn="ctr"/>
            <a:endParaRPr lang="en-US" sz="2400" dirty="0">
              <a:latin typeface="Arial Black" panose="020B0A040201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Narrow" panose="020B0606020202030204" pitchFamily="34" charset="0"/>
              </a:rPr>
              <a:t>Where is Performance Strongest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Narrow" panose="020B0606020202030204" pitchFamily="34" charset="0"/>
              </a:rPr>
              <a:t>What drives sales &amp; profit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Narrow" panose="020B0606020202030204" pitchFamily="34" charset="0"/>
              </a:rPr>
              <a:t>Where are the biggest opportunities</a:t>
            </a:r>
          </a:p>
        </p:txBody>
      </p:sp>
    </p:spTree>
    <p:extLst>
      <p:ext uri="{BB962C8B-B14F-4D97-AF65-F5344CB8AC3E}">
        <p14:creationId xmlns:p14="http://schemas.microsoft.com/office/powerpoint/2010/main" val="9524367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EAE43-C3C8-B93B-5B60-66B9AA3C87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6513" y="163287"/>
            <a:ext cx="10624457" cy="598714"/>
          </a:xfrm>
        </p:spPr>
        <p:txBody>
          <a:bodyPr>
            <a:normAutofit/>
          </a:bodyPr>
          <a:lstStyle/>
          <a:p>
            <a:r>
              <a:rPr lang="en-IN" sz="3200" b="1">
                <a:solidFill>
                  <a:srgbClr val="002060"/>
                </a:solidFill>
              </a:rPr>
              <a:t>From Raw Transactions to Business Insights</a:t>
            </a:r>
            <a:endParaRPr lang="en-IN" sz="3200" b="1" dirty="0">
              <a:solidFill>
                <a:srgbClr val="002060"/>
              </a:solidFill>
            </a:endParaRPr>
          </a:p>
        </p:txBody>
      </p:sp>
      <p:sp>
        <p:nvSpPr>
          <p:cNvPr id="14" name="Scroll: Vertical 13">
            <a:extLst>
              <a:ext uri="{FF2B5EF4-FFF2-40B4-BE49-F238E27FC236}">
                <a16:creationId xmlns:a16="http://schemas.microsoft.com/office/drawing/2014/main" id="{AA0A11EE-8C38-FEF9-39CF-DBACCBF2DB0D}"/>
              </a:ext>
            </a:extLst>
          </p:cNvPr>
          <p:cNvSpPr/>
          <p:nvPr/>
        </p:nvSpPr>
        <p:spPr>
          <a:xfrm>
            <a:off x="1081408" y="1567540"/>
            <a:ext cx="3331028" cy="2173853"/>
          </a:xfrm>
          <a:prstGeom prst="verticalScroll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Raw Data</a:t>
            </a:r>
          </a:p>
          <a:p>
            <a:pPr algn="ctr"/>
            <a:r>
              <a:rPr lang="en-US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Transactions records</a:t>
            </a:r>
            <a:endParaRPr lang="en-IN" sz="2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5" name="Scroll: Vertical 14">
            <a:extLst>
              <a:ext uri="{FF2B5EF4-FFF2-40B4-BE49-F238E27FC236}">
                <a16:creationId xmlns:a16="http://schemas.microsoft.com/office/drawing/2014/main" id="{D993130D-9A7D-3255-98E2-EE4961B2EE13}"/>
              </a:ext>
            </a:extLst>
          </p:cNvPr>
          <p:cNvSpPr/>
          <p:nvPr/>
        </p:nvSpPr>
        <p:spPr>
          <a:xfrm>
            <a:off x="6255566" y="1567540"/>
            <a:ext cx="3331028" cy="2173853"/>
          </a:xfrm>
          <a:prstGeom prst="verticalScroll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Analysis</a:t>
            </a:r>
          </a:p>
          <a:p>
            <a:pPr algn="ctr"/>
            <a:r>
              <a:rPr lang="en-US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KPI &amp;Trends</a:t>
            </a:r>
            <a:endParaRPr lang="en-IN" sz="2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6" name="Scroll: Vertical 15">
            <a:extLst>
              <a:ext uri="{FF2B5EF4-FFF2-40B4-BE49-F238E27FC236}">
                <a16:creationId xmlns:a16="http://schemas.microsoft.com/office/drawing/2014/main" id="{4BCB9568-B3E1-044D-DC26-8819771AE378}"/>
              </a:ext>
            </a:extLst>
          </p:cNvPr>
          <p:cNvSpPr/>
          <p:nvPr/>
        </p:nvSpPr>
        <p:spPr>
          <a:xfrm>
            <a:off x="3138810" y="4203532"/>
            <a:ext cx="3331028" cy="2173852"/>
          </a:xfrm>
          <a:prstGeom prst="verticalScroll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00B050"/>
                </a:solidFill>
              </a:rPr>
              <a:t>Visualise</a:t>
            </a:r>
            <a:endParaRPr lang="en-US" sz="2800" b="1" dirty="0">
              <a:solidFill>
                <a:srgbClr val="00B050"/>
              </a:solidFill>
            </a:endParaRPr>
          </a:p>
          <a:p>
            <a:pPr algn="ctr"/>
            <a:r>
              <a:rPr lang="en-US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Dashboard &amp; Trends</a:t>
            </a:r>
          </a:p>
        </p:txBody>
      </p:sp>
      <p:sp>
        <p:nvSpPr>
          <p:cNvPr id="17" name="Scroll: Vertical 16">
            <a:extLst>
              <a:ext uri="{FF2B5EF4-FFF2-40B4-BE49-F238E27FC236}">
                <a16:creationId xmlns:a16="http://schemas.microsoft.com/office/drawing/2014/main" id="{9E7A47FE-E99A-E765-D889-60FEF87CF887}"/>
              </a:ext>
            </a:extLst>
          </p:cNvPr>
          <p:cNvSpPr/>
          <p:nvPr/>
        </p:nvSpPr>
        <p:spPr>
          <a:xfrm>
            <a:off x="8385723" y="4203531"/>
            <a:ext cx="3331028" cy="2173853"/>
          </a:xfrm>
          <a:prstGeom prst="verticalScroll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Recommend</a:t>
            </a:r>
          </a:p>
          <a:p>
            <a:pPr algn="ctr"/>
            <a:r>
              <a:rPr lang="en-US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Business actions</a:t>
            </a:r>
            <a:endParaRPr lang="en-IN" sz="2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8D38D0E-BA35-964B-B9AA-3A5A914963AF}"/>
              </a:ext>
            </a:extLst>
          </p:cNvPr>
          <p:cNvSpPr txBox="1"/>
          <p:nvPr/>
        </p:nvSpPr>
        <p:spPr>
          <a:xfrm>
            <a:off x="2046513" y="762475"/>
            <a:ext cx="46045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b="1" dirty="0">
                <a:solidFill>
                  <a:srgbClr val="00B050"/>
                </a:solidFill>
              </a:rPr>
              <a:t>Excel-based analytical workflow</a:t>
            </a:r>
          </a:p>
        </p:txBody>
      </p:sp>
    </p:spTree>
    <p:extLst>
      <p:ext uri="{BB962C8B-B14F-4D97-AF65-F5344CB8AC3E}">
        <p14:creationId xmlns:p14="http://schemas.microsoft.com/office/powerpoint/2010/main" val="1931922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8193FD-7E78-2DAC-312A-1741EBAEA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5915" y="206829"/>
            <a:ext cx="12170228" cy="881742"/>
          </a:xfrm>
        </p:spPr>
        <p:txBody>
          <a:bodyPr>
            <a:noAutofit/>
          </a:bodyPr>
          <a:lstStyle/>
          <a:p>
            <a:r>
              <a:rPr lang="en-IN" sz="2800" b="1" dirty="0">
                <a:solidFill>
                  <a:srgbClr val="002060"/>
                </a:solidFill>
                <a:latin typeface="Arial Black" panose="020B0A04020102020204" pitchFamily="34" charset="0"/>
              </a:rPr>
              <a:t>A Profitable Business with Room to Improve Margins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7BD0495-2F21-0116-40E3-943F8B7C335E}"/>
              </a:ext>
            </a:extLst>
          </p:cNvPr>
          <p:cNvSpPr/>
          <p:nvPr/>
        </p:nvSpPr>
        <p:spPr>
          <a:xfrm>
            <a:off x="3303815" y="1409699"/>
            <a:ext cx="1608363" cy="1279072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TOTAL PROFIT</a:t>
            </a:r>
          </a:p>
          <a:p>
            <a:pPr algn="ctr"/>
            <a:br>
              <a:rPr lang="en-IN" sz="1400" dirty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</a:br>
            <a:r>
              <a:rPr lang="en-IN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₹</a:t>
            </a:r>
            <a:r>
              <a:rPr lang="en-IN" sz="2000" dirty="0">
                <a:ln w="0"/>
                <a:solidFill>
                  <a:schemeClr val="bg2">
                    <a:lumMod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2.86 L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FA957D-0147-C0C9-309B-55BEE9721F45}"/>
              </a:ext>
            </a:extLst>
          </p:cNvPr>
          <p:cNvSpPr/>
          <p:nvPr/>
        </p:nvSpPr>
        <p:spPr>
          <a:xfrm>
            <a:off x="5532665" y="1393371"/>
            <a:ext cx="1524002" cy="1279072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PROFIT MARGIN</a:t>
            </a:r>
            <a:br>
              <a:rPr lang="en-IN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</a:br>
            <a:endParaRPr lang="en-IN" sz="1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en-IN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12.47%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2CB37AB-8B8D-7BC5-B5B2-4895A12677B3}"/>
              </a:ext>
            </a:extLst>
          </p:cNvPr>
          <p:cNvSpPr/>
          <p:nvPr/>
        </p:nvSpPr>
        <p:spPr>
          <a:xfrm>
            <a:off x="7761514" y="1409699"/>
            <a:ext cx="1524002" cy="1279072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UNIQUE ORDERS</a:t>
            </a:r>
          </a:p>
          <a:p>
            <a:pPr algn="ctr"/>
            <a:br>
              <a:rPr lang="en-I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</a:br>
            <a:r>
              <a:rPr lang="en-IN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5,009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9D2178F-BC5E-0BC5-5E12-1527DBB55F93}"/>
              </a:ext>
            </a:extLst>
          </p:cNvPr>
          <p:cNvSpPr/>
          <p:nvPr/>
        </p:nvSpPr>
        <p:spPr>
          <a:xfrm>
            <a:off x="1083126" y="1409699"/>
            <a:ext cx="1608363" cy="1279072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TOTAL SALES</a:t>
            </a:r>
            <a:br>
              <a:rPr lang="en-IN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</a:br>
            <a:endParaRPr lang="en-IN" sz="1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en-IN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₹22.9 Lakh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2580001-9329-2AF6-39AB-868AB620C20F}"/>
              </a:ext>
            </a:extLst>
          </p:cNvPr>
          <p:cNvSpPr/>
          <p:nvPr/>
        </p:nvSpPr>
        <p:spPr>
          <a:xfrm>
            <a:off x="9906003" y="1415143"/>
            <a:ext cx="1524002" cy="1273628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TOTAL QUANTITY</a:t>
            </a:r>
          </a:p>
          <a:p>
            <a:pPr algn="ctr"/>
            <a:endParaRPr lang="en-IN" sz="140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en-IN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9994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026C2FA-DAE1-CFDD-9548-374276E47381}"/>
              </a:ext>
            </a:extLst>
          </p:cNvPr>
          <p:cNvSpPr txBox="1"/>
          <p:nvPr/>
        </p:nvSpPr>
        <p:spPr>
          <a:xfrm>
            <a:off x="1055915" y="3664009"/>
            <a:ext cx="10820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000" b="1" dirty="0">
                <a:solidFill>
                  <a:srgbClr val="002060"/>
                </a:solidFill>
                <a:latin typeface="Arial Black" panose="020B0A04020102020204" pitchFamily="34" charset="0"/>
              </a:rPr>
              <a:t>Overall sales are strong, but the 12.47% margin indicates an opportunity to improve profitability.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6169359-A31C-1E61-D8A5-2D939114A852}"/>
              </a:ext>
            </a:extLst>
          </p:cNvPr>
          <p:cNvSpPr/>
          <p:nvPr/>
        </p:nvSpPr>
        <p:spPr>
          <a:xfrm>
            <a:off x="4147457" y="5080748"/>
            <a:ext cx="3897085" cy="1050157"/>
          </a:xfrm>
          <a:prstGeom prst="ellipse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Data source</a:t>
            </a:r>
          </a:p>
          <a:p>
            <a:pPr algn="ctr"/>
            <a:r>
              <a:rPr lang="en-I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Dashboard → KPI Cards</a:t>
            </a:r>
          </a:p>
        </p:txBody>
      </p:sp>
    </p:spTree>
    <p:extLst>
      <p:ext uri="{BB962C8B-B14F-4D97-AF65-F5344CB8AC3E}">
        <p14:creationId xmlns:p14="http://schemas.microsoft.com/office/powerpoint/2010/main" val="24511453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9F42B3-6E3C-FE31-139C-43B0F1BEA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857" y="337458"/>
            <a:ext cx="9448800" cy="1066800"/>
          </a:xfrm>
        </p:spPr>
        <p:txBody>
          <a:bodyPr>
            <a:normAutofit/>
          </a:bodyPr>
          <a:lstStyle/>
          <a:p>
            <a:pPr algn="ctr"/>
            <a:r>
              <a:rPr lang="en-IN" sz="2400" b="1" dirty="0">
                <a:solidFill>
                  <a:srgbClr val="002060"/>
                </a:solidFill>
                <a:latin typeface="Arial Black" panose="020B0A04020102020204" pitchFamily="34" charset="0"/>
              </a:rPr>
              <a:t>West Leads Regional Performance, While Technology Drives Category Results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9561CA9D-1E2D-4D3A-411F-F782F8049532}"/>
              </a:ext>
            </a:extLst>
          </p:cNvPr>
          <p:cNvSpPr/>
          <p:nvPr/>
        </p:nvSpPr>
        <p:spPr>
          <a:xfrm>
            <a:off x="1251857" y="1404258"/>
            <a:ext cx="2688772" cy="892629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Regional Performance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A826569-0C38-5BF1-E498-5E59BE29F128}"/>
              </a:ext>
            </a:extLst>
          </p:cNvPr>
          <p:cNvSpPr/>
          <p:nvPr/>
        </p:nvSpPr>
        <p:spPr>
          <a:xfrm>
            <a:off x="7848600" y="1404258"/>
            <a:ext cx="2852057" cy="892629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Category</a:t>
            </a: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CD63F840-5B29-E880-3458-A057FBC005B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70470368"/>
              </p:ext>
            </p:extLst>
          </p:nvPr>
        </p:nvGraphicFramePr>
        <p:xfrm>
          <a:off x="845457" y="2879876"/>
          <a:ext cx="4521200" cy="35584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2BD9C3ED-D7E4-D431-AB36-758EC271B5F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31892046"/>
              </p:ext>
            </p:extLst>
          </p:nvPr>
        </p:nvGraphicFramePr>
        <p:xfrm>
          <a:off x="6651170" y="2879876"/>
          <a:ext cx="5007430" cy="35584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88562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5A48D-DB2F-273F-4E5B-8A005D129F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381000"/>
            <a:ext cx="9601200" cy="1186543"/>
          </a:xfrm>
        </p:spPr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2060"/>
                </a:solidFill>
                <a:latin typeface="Arial Black" panose="020B0A04020102020204" pitchFamily="34" charset="0"/>
              </a:rPr>
              <a:t>Consumer Leads Customer Sales as Performance Fluctuates Across the Year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83DA3CFF-DDB0-DEAB-CE6D-F3746907C8E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74193022"/>
              </p:ext>
            </p:extLst>
          </p:nvPr>
        </p:nvGraphicFramePr>
        <p:xfrm>
          <a:off x="11852275" y="928688"/>
          <a:ext cx="46038" cy="460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FDA15A78-096C-283F-3FB2-75B7ADADAF93}"/>
              </a:ext>
            </a:extLst>
          </p:cNvPr>
          <p:cNvSpPr txBox="1"/>
          <p:nvPr/>
        </p:nvSpPr>
        <p:spPr>
          <a:xfrm>
            <a:off x="1458686" y="1385108"/>
            <a:ext cx="99604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1600" dirty="0">
                <a:solidFill>
                  <a:srgbClr val="0070C0"/>
                </a:solidFill>
              </a:rPr>
              <a:t>Consumer contributes the largest share of sales, while Home Office represents an opportunity for targeted growth.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A61CDA10-E811-2CAF-8423-A9CDEBF2FAE7}"/>
              </a:ext>
            </a:extLst>
          </p:cNvPr>
          <p:cNvSpPr/>
          <p:nvPr/>
        </p:nvSpPr>
        <p:spPr>
          <a:xfrm>
            <a:off x="1295400" y="2155371"/>
            <a:ext cx="2841171" cy="857310"/>
          </a:xfrm>
          <a:prstGeom prst="ellipse">
            <a:avLst/>
          </a:pr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CUSTOMER SEGMENT Sales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AB47897-979A-AE83-6F42-6F4B975C88CA}"/>
              </a:ext>
            </a:extLst>
          </p:cNvPr>
          <p:cNvSpPr/>
          <p:nvPr/>
        </p:nvSpPr>
        <p:spPr>
          <a:xfrm>
            <a:off x="7609114" y="2155370"/>
            <a:ext cx="2917372" cy="857311"/>
          </a:xfrm>
          <a:prstGeom prst="ellipse">
            <a:avLst/>
          </a:pr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MONTHLY SALES TREND</a:t>
            </a:r>
          </a:p>
        </p:txBody>
      </p:sp>
      <p:graphicFrame>
        <p:nvGraphicFramePr>
          <p:cNvPr id="15" name="Chart 14">
            <a:extLst>
              <a:ext uri="{FF2B5EF4-FFF2-40B4-BE49-F238E27FC236}">
                <a16:creationId xmlns:a16="http://schemas.microsoft.com/office/drawing/2014/main" id="{3DF12B11-A26A-D90C-2797-598FE84F3BC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60964196"/>
              </p:ext>
            </p:extLst>
          </p:nvPr>
        </p:nvGraphicFramePr>
        <p:xfrm>
          <a:off x="6498770" y="3428999"/>
          <a:ext cx="5138059" cy="283028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12366E45-EDB3-FEDB-571B-C4C2A8005A51}"/>
              </a:ext>
            </a:extLst>
          </p:cNvPr>
          <p:cNvSpPr txBox="1"/>
          <p:nvPr/>
        </p:nvSpPr>
        <p:spPr>
          <a:xfrm>
            <a:off x="2438399" y="4719347"/>
            <a:ext cx="1048213" cy="2771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>
                <a:solidFill>
                  <a:schemeClr val="bg1"/>
                </a:solidFill>
              </a:rPr>
              <a:t>₹7.06L</a:t>
            </a:r>
          </a:p>
        </p:txBody>
      </p:sp>
      <p:graphicFrame>
        <p:nvGraphicFramePr>
          <p:cNvPr id="25" name="Chart 24">
            <a:extLst>
              <a:ext uri="{FF2B5EF4-FFF2-40B4-BE49-F238E27FC236}">
                <a16:creationId xmlns:a16="http://schemas.microsoft.com/office/drawing/2014/main" id="{E2DA7E50-7095-E165-EF07-CFF1D396E4E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78551096"/>
              </p:ext>
            </p:extLst>
          </p:nvPr>
        </p:nvGraphicFramePr>
        <p:xfrm>
          <a:off x="1295400" y="3428999"/>
          <a:ext cx="4310743" cy="270933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6" name="TextBox 25">
            <a:extLst>
              <a:ext uri="{FF2B5EF4-FFF2-40B4-BE49-F238E27FC236}">
                <a16:creationId xmlns:a16="http://schemas.microsoft.com/office/drawing/2014/main" id="{CD771DD2-8923-D4EA-B443-BCD65E5587DD}"/>
              </a:ext>
            </a:extLst>
          </p:cNvPr>
          <p:cNvSpPr txBox="1"/>
          <p:nvPr/>
        </p:nvSpPr>
        <p:spPr>
          <a:xfrm>
            <a:off x="3786154" y="5094515"/>
            <a:ext cx="70083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100" b="1" dirty="0">
                <a:solidFill>
                  <a:schemeClr val="bg1"/>
                </a:solidFill>
              </a:rPr>
              <a:t>₹11.61L</a:t>
            </a:r>
          </a:p>
        </p:txBody>
      </p:sp>
    </p:spTree>
    <p:extLst>
      <p:ext uri="{BB962C8B-B14F-4D97-AF65-F5344CB8AC3E}">
        <p14:creationId xmlns:p14="http://schemas.microsoft.com/office/powerpoint/2010/main" val="8436898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99260-29B8-5D49-EDF7-BF153093B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9559" y="1066800"/>
            <a:ext cx="8588584" cy="435429"/>
          </a:xfrm>
        </p:spPr>
        <p:txBody>
          <a:bodyPr>
            <a:normAutofit/>
          </a:bodyPr>
          <a:lstStyle/>
          <a:p>
            <a:pPr algn="ctr"/>
            <a:r>
              <a:rPr lang="en-IN" sz="2400" dirty="0">
                <a:solidFill>
                  <a:schemeClr val="accent6">
                    <a:lumMod val="75000"/>
                  </a:schemeClr>
                </a:solidFill>
              </a:rPr>
              <a:t>Top-selling products identified from product-level sales analysis</a:t>
            </a:r>
            <a:endParaRPr lang="en-IN" sz="2400" dirty="0">
              <a:solidFill>
                <a:schemeClr val="accent6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55A238DC-53FC-8FFF-A67B-1AA30C03123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18313868"/>
              </p:ext>
            </p:extLst>
          </p:nvPr>
        </p:nvGraphicFramePr>
        <p:xfrm>
          <a:off x="1240559" y="1698170"/>
          <a:ext cx="8305799" cy="34616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124EB52C-47F2-0EA5-1970-DC2DA96BD78E}"/>
              </a:ext>
            </a:extLst>
          </p:cNvPr>
          <p:cNvSpPr txBox="1"/>
          <p:nvPr/>
        </p:nvSpPr>
        <p:spPr>
          <a:xfrm>
            <a:off x="703570" y="307461"/>
            <a:ext cx="113731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3200" b="1" dirty="0">
                <a:solidFill>
                  <a:srgbClr val="002060"/>
                </a:solidFill>
                <a:latin typeface="Arial Black" panose="020B0A04020102020204" pitchFamily="34" charset="0"/>
              </a:rPr>
              <a:t>A Few Products Drive a Significant Share of Sales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F1F8DD0-9B95-26DE-04B9-FBB8CBC128E0}"/>
              </a:ext>
            </a:extLst>
          </p:cNvPr>
          <p:cNvSpPr txBox="1"/>
          <p:nvPr/>
        </p:nvSpPr>
        <p:spPr>
          <a:xfrm>
            <a:off x="1240559" y="5319433"/>
            <a:ext cx="10951441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srgbClr val="00B0F0"/>
                </a:solidFill>
                <a:latin typeface="Arial Black" panose="020B0A04020102020204" pitchFamily="34" charset="0"/>
              </a:rPr>
              <a:t>BUSINESS INSIGHT</a:t>
            </a:r>
          </a:p>
          <a:p>
            <a:endParaRPr lang="en-IN" sz="1400" b="1" dirty="0">
              <a:solidFill>
                <a:schemeClr val="accent6">
                  <a:lumMod val="75000"/>
                </a:schemeClr>
              </a:solidFill>
              <a:latin typeface="Arial Black" panose="020B0A04020102020204" pitchFamily="34" charset="0"/>
            </a:endParaRPr>
          </a:p>
          <a:p>
            <a:r>
              <a:rPr lang="en-IN" sz="1400" b="1" dirty="0">
                <a:solidFill>
                  <a:schemeClr val="accent6">
                    <a:lumMod val="75000"/>
                  </a:schemeClr>
                </a:solidFill>
                <a:latin typeface="Arial Black" panose="020B0A04020102020204" pitchFamily="34" charset="0"/>
              </a:rPr>
              <a:t>Top-selling products should receive priority in inventory planning and can be used for cross-selling and bundled offers</a:t>
            </a:r>
            <a:r>
              <a:rPr lang="en-IN" sz="1400" b="1" dirty="0">
                <a:solidFill>
                  <a:schemeClr val="accent6">
                    <a:lumMod val="75000"/>
                  </a:schemeClr>
                </a:solidFill>
              </a:rPr>
              <a:t>.</a:t>
            </a:r>
            <a:endParaRPr lang="en-IN" sz="1400" dirty="0">
              <a:solidFill>
                <a:schemeClr val="accent6">
                  <a:lumMod val="75000"/>
                </a:schemeClr>
              </a:solidFill>
            </a:endParaRPr>
          </a:p>
          <a:p>
            <a:endParaRPr lang="en-IN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5F2A0E1-BD76-9655-B3DB-4CACAC4F4B3F}"/>
              </a:ext>
            </a:extLst>
          </p:cNvPr>
          <p:cNvSpPr/>
          <p:nvPr/>
        </p:nvSpPr>
        <p:spPr>
          <a:xfrm>
            <a:off x="9546358" y="1800957"/>
            <a:ext cx="2357707" cy="199976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₹61.6K</a:t>
            </a:r>
          </a:p>
          <a:p>
            <a:pPr algn="ctr"/>
            <a:r>
              <a:rPr lang="en-I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Highest-selling product</a:t>
            </a:r>
          </a:p>
          <a:p>
            <a:endParaRPr lang="en-IN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en-IN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Canon </a:t>
            </a:r>
            <a:r>
              <a:rPr lang="en-IN" dirty="0" err="1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imageCLASS</a:t>
            </a:r>
            <a:r>
              <a:rPr lang="en-IN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2200 Advanced Copier</a:t>
            </a:r>
          </a:p>
        </p:txBody>
      </p:sp>
    </p:spTree>
    <p:extLst>
      <p:ext uri="{BB962C8B-B14F-4D97-AF65-F5344CB8AC3E}">
        <p14:creationId xmlns:p14="http://schemas.microsoft.com/office/powerpoint/2010/main" val="1418569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AF9424-7F59-FA85-61A0-BBB4034E3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1485" y="289592"/>
            <a:ext cx="10482943" cy="1055915"/>
          </a:xfrm>
        </p:spPr>
        <p:txBody>
          <a:bodyPr>
            <a:normAutofit fontScale="90000"/>
          </a:bodyPr>
          <a:lstStyle/>
          <a:p>
            <a:pPr algn="ctr"/>
            <a:r>
              <a:rPr lang="en-IN" sz="3600" dirty="0">
                <a:solidFill>
                  <a:srgbClr val="002060"/>
                </a:solidFill>
                <a:latin typeface="Arial Black" panose="020B0A04020102020204" pitchFamily="34" charset="0"/>
              </a:rPr>
              <a:t>Higher Discounts Are Driving the Business Into Negative Profit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0D8AC355-2C75-27CA-EDA6-91893A5EFCA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31881876"/>
              </p:ext>
            </p:extLst>
          </p:nvPr>
        </p:nvGraphicFramePr>
        <p:xfrm>
          <a:off x="1491797" y="2252663"/>
          <a:ext cx="5856060" cy="29289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78C092C4-D71E-06F3-8ED7-70192EB7732C}"/>
              </a:ext>
            </a:extLst>
          </p:cNvPr>
          <p:cNvSpPr txBox="1"/>
          <p:nvPr/>
        </p:nvSpPr>
        <p:spPr>
          <a:xfrm>
            <a:off x="1774372" y="1524782"/>
            <a:ext cx="7333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chemeClr val="accent6">
                    <a:lumMod val="75000"/>
                  </a:schemeClr>
                </a:solidFill>
                <a:latin typeface="Arial Black" panose="020B0A04020102020204" pitchFamily="34" charset="0"/>
              </a:rPr>
              <a:t>Profitability declines sharply as discount levels increase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A5B36A0-B913-DAEE-2502-17171C809A3B}"/>
              </a:ext>
            </a:extLst>
          </p:cNvPr>
          <p:cNvSpPr txBox="1"/>
          <p:nvPr/>
        </p:nvSpPr>
        <p:spPr>
          <a:xfrm>
            <a:off x="7881256" y="2252663"/>
            <a:ext cx="415834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6">
                    <a:lumMod val="75000"/>
                  </a:schemeClr>
                </a:solidFill>
                <a:latin typeface="Arial Black" panose="020B0A04020102020204" pitchFamily="34" charset="0"/>
              </a:rPr>
              <a:t>30%+</a:t>
            </a:r>
          </a:p>
          <a:p>
            <a:r>
              <a:rPr lang="en-IN" dirty="0">
                <a:solidFill>
                  <a:schemeClr val="accent6">
                    <a:lumMod val="75000"/>
                  </a:schemeClr>
                </a:solidFill>
                <a:latin typeface="Arial Black" panose="020B0A04020102020204" pitchFamily="34" charset="0"/>
              </a:rPr>
              <a:t>Discount Risk Threshold</a:t>
            </a:r>
          </a:p>
          <a:p>
            <a:r>
              <a:rPr lang="en-IN" dirty="0">
                <a:solidFill>
                  <a:schemeClr val="accent3"/>
                </a:solidFill>
              </a:rPr>
              <a:t>Discounts of 30% and above are associated with negative total profit in the analysed data.</a:t>
            </a:r>
          </a:p>
          <a:p>
            <a:endParaRPr lang="en-IN" dirty="0">
              <a:solidFill>
                <a:schemeClr val="accent6">
                  <a:lumMod val="75000"/>
                </a:schemeClr>
              </a:solidFill>
              <a:latin typeface="Arial Black" panose="020B0A04020102020204" pitchFamily="34" charset="0"/>
            </a:endParaRPr>
          </a:p>
          <a:p>
            <a:r>
              <a:rPr lang="en-IN" b="1" dirty="0">
                <a:solidFill>
                  <a:schemeClr val="accent6">
                    <a:lumMod val="75000"/>
                  </a:schemeClr>
                </a:solidFill>
                <a:latin typeface="Arial Black" panose="020B0A04020102020204" pitchFamily="34" charset="0"/>
              </a:rPr>
              <a:t>−₹40.1K</a:t>
            </a:r>
          </a:p>
          <a:p>
            <a:r>
              <a:rPr lang="en-IN" b="1" dirty="0">
                <a:solidFill>
                  <a:schemeClr val="accent6">
                    <a:lumMod val="75000"/>
                  </a:schemeClr>
                </a:solidFill>
                <a:latin typeface="Arial Black" panose="020B0A04020102020204" pitchFamily="34" charset="0"/>
              </a:rPr>
              <a:t>Profit at 70% discount</a:t>
            </a:r>
            <a:endParaRPr lang="en-IN" dirty="0">
              <a:solidFill>
                <a:schemeClr val="accent6">
                  <a:lumMod val="75000"/>
                </a:schemeClr>
              </a:solidFill>
              <a:latin typeface="Arial Black" panose="020B0A04020102020204" pitchFamily="34" charset="0"/>
            </a:endParaRPr>
          </a:p>
          <a:p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7D997D-BA2D-BF6F-0604-C1BA943AF81B}"/>
              </a:ext>
            </a:extLst>
          </p:cNvPr>
          <p:cNvSpPr txBox="1"/>
          <p:nvPr/>
        </p:nvSpPr>
        <p:spPr>
          <a:xfrm>
            <a:off x="1197429" y="5388429"/>
            <a:ext cx="10591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>
                    <a:lumMod val="75000"/>
                  </a:schemeClr>
                </a:solidFill>
              </a:rPr>
              <a:t>MANAGEMENT ACTION</a:t>
            </a:r>
          </a:p>
          <a:p>
            <a:r>
              <a:rPr lang="en-IN" b="1" dirty="0"/>
              <a:t>Introduce tighter controls for discounts of 30% and above and evaluate profitability before approving high-discount transactions.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331100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492EC-ED20-BCD7-291C-B76B5AC532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359229"/>
            <a:ext cx="9601200" cy="555171"/>
          </a:xfrm>
        </p:spPr>
        <p:txBody>
          <a:bodyPr>
            <a:normAutofit/>
          </a:bodyPr>
          <a:lstStyle/>
          <a:p>
            <a:pPr algn="ctr"/>
            <a:r>
              <a:rPr lang="en-IN" sz="3200" dirty="0">
                <a:solidFill>
                  <a:srgbClr val="002060"/>
                </a:solidFill>
                <a:latin typeface="Arial Black" panose="020B0A04020102020204" pitchFamily="34" charset="0"/>
              </a:rPr>
              <a:t>Five Insights Stand Out From the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3AD80A-A513-FA9F-227F-E1CF79D2F3CD}"/>
              </a:ext>
            </a:extLst>
          </p:cNvPr>
          <p:cNvSpPr>
            <a:spLocks noGrp="1"/>
          </p:cNvSpPr>
          <p:nvPr>
            <p:ph idx="1"/>
          </p:nvPr>
        </p:nvSpPr>
        <p:spPr>
          <a:xfrm flipV="1">
            <a:off x="14249400" y="1591212"/>
            <a:ext cx="87086" cy="45719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F25926-0A0B-BF0D-3C0E-148EF28EAA6C}"/>
              </a:ext>
            </a:extLst>
          </p:cNvPr>
          <p:cNvSpPr txBox="1"/>
          <p:nvPr/>
        </p:nvSpPr>
        <p:spPr>
          <a:xfrm>
            <a:off x="1371600" y="990600"/>
            <a:ext cx="9601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accent6">
                    <a:lumMod val="75000"/>
                  </a:schemeClr>
                </a:solidFill>
                <a:latin typeface="Arial Black" panose="020B0A04020102020204" pitchFamily="34" charset="0"/>
              </a:rPr>
              <a:t>The analysis highlights where the business is performing well and where improvement is needed</a:t>
            </a:r>
            <a:r>
              <a:rPr lang="en-IN" dirty="0"/>
              <a:t>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619E6F9-9755-03F6-AE0E-322E5FC24D09}"/>
              </a:ext>
            </a:extLst>
          </p:cNvPr>
          <p:cNvSpPr/>
          <p:nvPr/>
        </p:nvSpPr>
        <p:spPr>
          <a:xfrm>
            <a:off x="1632859" y="2046511"/>
            <a:ext cx="2667000" cy="2028818"/>
          </a:xfrm>
          <a:prstGeom prst="roundRect">
            <a:avLst/>
          </a:prstGeom>
          <a:solidFill>
            <a:schemeClr val="bg1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₹22.97 L</a:t>
            </a:r>
          </a:p>
          <a:p>
            <a:pPr algn="ctr"/>
            <a:r>
              <a:rPr lang="en-IN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TOTAL SALES</a:t>
            </a:r>
          </a:p>
          <a:p>
            <a:pPr algn="ctr"/>
            <a:endParaRPr lang="en-IN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en-IN" b="1" dirty="0">
                <a:solidFill>
                  <a:schemeClr val="accent5">
                    <a:lumMod val="75000"/>
                  </a:schemeClr>
                </a:solidFill>
              </a:rPr>
              <a:t>Strong revenue, with profitability upside.</a:t>
            </a:r>
            <a:endParaRPr lang="en-IN" b="1" dirty="0">
              <a:ln w="0"/>
              <a:solidFill>
                <a:schemeClr val="accent5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045DC8C-62A0-25F0-A57F-10357CD30917}"/>
              </a:ext>
            </a:extLst>
          </p:cNvPr>
          <p:cNvSpPr/>
          <p:nvPr/>
        </p:nvSpPr>
        <p:spPr>
          <a:xfrm>
            <a:off x="4974772" y="2046511"/>
            <a:ext cx="2841172" cy="2028818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12.47%</a:t>
            </a:r>
          </a:p>
          <a:p>
            <a:pPr algn="ctr"/>
            <a:r>
              <a:rPr lang="en-IN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PROFIT MARGIN</a:t>
            </a:r>
          </a:p>
          <a:p>
            <a:pPr algn="ctr"/>
            <a:endParaRPr lang="en-IN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en-IN" b="1" dirty="0">
                <a:solidFill>
                  <a:schemeClr val="accent5">
                    <a:lumMod val="75000"/>
                  </a:schemeClr>
                </a:solidFill>
              </a:rPr>
              <a:t>Improve margins through pricing and discount control.</a:t>
            </a:r>
            <a:endParaRPr lang="en-IN" b="1" dirty="0">
              <a:ln w="0"/>
              <a:solidFill>
                <a:schemeClr val="accent5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AA7E4F5-0FA9-F226-870F-0740E7409E05}"/>
              </a:ext>
            </a:extLst>
          </p:cNvPr>
          <p:cNvSpPr/>
          <p:nvPr/>
        </p:nvSpPr>
        <p:spPr>
          <a:xfrm>
            <a:off x="8490857" y="2046512"/>
            <a:ext cx="2743200" cy="2028817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WEST</a:t>
            </a:r>
            <a:endParaRPr lang="en-IN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en-I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TOP REGION</a:t>
            </a:r>
          </a:p>
          <a:p>
            <a:pPr algn="ctr"/>
            <a:endParaRPr lang="en-IN" dirty="0"/>
          </a:p>
          <a:p>
            <a:pPr algn="ctr"/>
            <a:r>
              <a:rPr lang="en-IN" b="1" dirty="0">
                <a:solidFill>
                  <a:schemeClr val="accent5">
                    <a:lumMod val="75000"/>
                  </a:schemeClr>
                </a:solidFill>
              </a:rPr>
              <a:t>West leads regional performance.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83C779E-39C5-EF26-DDD1-384FBBA0676B}"/>
              </a:ext>
            </a:extLst>
          </p:cNvPr>
          <p:cNvSpPr/>
          <p:nvPr/>
        </p:nvSpPr>
        <p:spPr>
          <a:xfrm>
            <a:off x="3162303" y="4469954"/>
            <a:ext cx="2667001" cy="2028817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TECHNOLOGY</a:t>
            </a:r>
            <a:endParaRPr lang="en-IN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en-I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TOP CATEGORY</a:t>
            </a:r>
          </a:p>
          <a:p>
            <a:pPr algn="ctr"/>
            <a:endParaRPr lang="en-IN" dirty="0"/>
          </a:p>
          <a:p>
            <a:pPr algn="ctr"/>
            <a:r>
              <a:rPr lang="en-IN" b="1" dirty="0">
                <a:solidFill>
                  <a:schemeClr val="accent5">
                    <a:lumMod val="75000"/>
                  </a:schemeClr>
                </a:solidFill>
              </a:rPr>
              <a:t>Technology leads and remains a key focus area.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56834F7-6137-4FC3-B933-44440A8090B3}"/>
              </a:ext>
            </a:extLst>
          </p:cNvPr>
          <p:cNvSpPr/>
          <p:nvPr/>
        </p:nvSpPr>
        <p:spPr>
          <a:xfrm>
            <a:off x="6847115" y="4484909"/>
            <a:ext cx="2743201" cy="2028817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30%+</a:t>
            </a:r>
          </a:p>
          <a:p>
            <a:pPr algn="ctr"/>
            <a:r>
              <a:rPr lang="en-IN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DISCOUNT RISK</a:t>
            </a:r>
          </a:p>
          <a:p>
            <a:pPr algn="ctr"/>
            <a:endParaRPr lang="en-IN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en-IN" b="1" dirty="0">
                <a:solidFill>
                  <a:schemeClr val="accent5">
                    <a:lumMod val="75000"/>
                  </a:schemeClr>
                </a:solidFill>
              </a:rPr>
              <a:t>30%+ discounts are linked to negative profit.</a:t>
            </a:r>
            <a:endParaRPr lang="en-IN" b="1" dirty="0">
              <a:ln w="0"/>
              <a:solidFill>
                <a:schemeClr val="accent5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6628231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98826-FCCD-0DD4-38A5-8015E37A6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370115"/>
            <a:ext cx="9601200" cy="424543"/>
          </a:xfrm>
        </p:spPr>
        <p:txBody>
          <a:bodyPr>
            <a:normAutofit fontScale="90000"/>
          </a:bodyPr>
          <a:lstStyle/>
          <a:p>
            <a:pPr algn="ctr"/>
            <a:r>
              <a:rPr lang="en-IN" sz="2800" dirty="0">
                <a:solidFill>
                  <a:srgbClr val="002060"/>
                </a:solidFill>
                <a:latin typeface="Arial Black" panose="020B0A04020102020204" pitchFamily="34" charset="0"/>
              </a:rPr>
              <a:t>Prioritize Profitability While Scaling What 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B06B39-AD1C-94D0-1E91-C005163282C6}"/>
              </a:ext>
            </a:extLst>
          </p:cNvPr>
          <p:cNvSpPr>
            <a:spLocks noGrp="1"/>
          </p:cNvSpPr>
          <p:nvPr>
            <p:ph idx="1"/>
          </p:nvPr>
        </p:nvSpPr>
        <p:spPr>
          <a:xfrm flipH="1">
            <a:off x="13781314" y="843643"/>
            <a:ext cx="45719" cy="293914"/>
          </a:xfrm>
        </p:spPr>
        <p:txBody>
          <a:bodyPr>
            <a:normAutofit fontScale="85000" lnSpcReduction="20000"/>
          </a:bodyPr>
          <a:lstStyle/>
          <a:p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B645E0-3C0A-B351-355C-BBFC2B568149}"/>
              </a:ext>
            </a:extLst>
          </p:cNvPr>
          <p:cNvSpPr txBox="1"/>
          <p:nvPr/>
        </p:nvSpPr>
        <p:spPr>
          <a:xfrm>
            <a:off x="3037114" y="790545"/>
            <a:ext cx="559608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dirty="0">
                <a:solidFill>
                  <a:schemeClr val="accent6">
                    <a:lumMod val="75000"/>
                  </a:schemeClr>
                </a:solidFill>
                <a:latin typeface="Arial Black" panose="020B0A04020102020204" pitchFamily="34" charset="0"/>
              </a:rPr>
              <a:t>Four actions emerge from the analysis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22F024F-18A7-15D5-FAA3-39247E788AEF}"/>
              </a:ext>
            </a:extLst>
          </p:cNvPr>
          <p:cNvSpPr/>
          <p:nvPr/>
        </p:nvSpPr>
        <p:spPr>
          <a:xfrm>
            <a:off x="1371599" y="1378374"/>
            <a:ext cx="2841171" cy="2050626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CONTROL HIGH DISCOUNTS </a:t>
            </a:r>
          </a:p>
          <a:p>
            <a:pPr algn="ctr"/>
            <a:endParaRPr lang="en-IN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en-I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30%+ discounts require tighter controls.</a:t>
            </a:r>
          </a:p>
          <a:p>
            <a:pPr algn="ctr"/>
            <a:r>
              <a:rPr lang="en-IN" dirty="0">
                <a:ln w="0"/>
                <a:solidFill>
                  <a:schemeClr val="accent6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HIGH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294A0C1-C535-427C-B746-2ED765B0E2D1}"/>
              </a:ext>
            </a:extLst>
          </p:cNvPr>
          <p:cNvSpPr/>
          <p:nvPr/>
        </p:nvSpPr>
        <p:spPr>
          <a:xfrm>
            <a:off x="4724399" y="1393372"/>
            <a:ext cx="2993571" cy="2035628"/>
          </a:xfrm>
          <a:prstGeom prst="roundRect">
            <a:avLst/>
          </a:prstGeom>
          <a:solidFill>
            <a:schemeClr val="bg1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PROTECT TOP-SELLING PRODUCTS </a:t>
            </a:r>
          </a:p>
          <a:p>
            <a:pPr algn="ctr"/>
            <a:endParaRPr lang="en-US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Maintain inventory and explore cross- selling.</a:t>
            </a:r>
          </a:p>
          <a:p>
            <a:pPr algn="ctr"/>
            <a:r>
              <a:rPr lang="en-US" dirty="0">
                <a:ln w="0"/>
                <a:solidFill>
                  <a:schemeClr val="accent6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HIGH</a:t>
            </a:r>
            <a:endParaRPr lang="en-IN" dirty="0">
              <a:ln w="0"/>
              <a:solidFill>
                <a:schemeClr val="accent6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C2BC1A3-B4B2-7044-15B8-5FF89D83376A}"/>
              </a:ext>
            </a:extLst>
          </p:cNvPr>
          <p:cNvSpPr/>
          <p:nvPr/>
        </p:nvSpPr>
        <p:spPr>
          <a:xfrm>
            <a:off x="8186057" y="1378374"/>
            <a:ext cx="3418115" cy="2050626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STRENGTHEN WEAKER MARKETS</a:t>
            </a:r>
          </a:p>
          <a:p>
            <a:pPr algn="ctr"/>
            <a:endParaRPr lang="en-US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Target weaker regions while maintaining west’s performance.</a:t>
            </a:r>
          </a:p>
          <a:p>
            <a:pPr algn="ctr"/>
            <a:r>
              <a:rPr lang="en-US" dirty="0">
                <a:ln w="0"/>
                <a:solidFill>
                  <a:schemeClr val="accent6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MEDIUM</a:t>
            </a:r>
            <a:endParaRPr lang="en-IN" dirty="0">
              <a:ln w="0"/>
              <a:solidFill>
                <a:schemeClr val="accent6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FE819C5-1C00-FEA6-EDF4-99812A238652}"/>
              </a:ext>
            </a:extLst>
          </p:cNvPr>
          <p:cNvSpPr/>
          <p:nvPr/>
        </p:nvSpPr>
        <p:spPr>
          <a:xfrm>
            <a:off x="1371599" y="3616719"/>
            <a:ext cx="10178144" cy="1205652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IMPROVE PRODUCT MIX</a:t>
            </a:r>
          </a:p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Focus on Technology and review weaker categories</a:t>
            </a:r>
            <a:r>
              <a:rPr lang="en-I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.</a:t>
            </a:r>
          </a:p>
          <a:p>
            <a:pPr algn="ctr"/>
            <a:r>
              <a:rPr lang="en-I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MEDIUM</a:t>
            </a:r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7F91D9B-27FB-8650-697F-438D263DB613}"/>
              </a:ext>
            </a:extLst>
          </p:cNvPr>
          <p:cNvSpPr txBox="1"/>
          <p:nvPr/>
        </p:nvSpPr>
        <p:spPr>
          <a:xfrm>
            <a:off x="1295401" y="5334000"/>
            <a:ext cx="1048893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0070C0"/>
                </a:solidFill>
              </a:rPr>
              <a:t>FINAL MANAGEMENT TAKEAWAY</a:t>
            </a:r>
          </a:p>
          <a:p>
            <a:r>
              <a:rPr lang="en-IN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The business has a strong revenue base, but the biggest immediate opportunity is to protect profitability by controlling high discounts while continuing to invest in high-performing products, regions and categories.</a:t>
            </a:r>
            <a:endParaRPr lang="en-IN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520536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1211</TotalTime>
  <Words>498</Words>
  <Application>Microsoft Office PowerPoint</Application>
  <PresentationFormat>Widescreen</PresentationFormat>
  <Paragraphs>118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 Black</vt:lpstr>
      <vt:lpstr>Arial Narrow</vt:lpstr>
      <vt:lpstr>Franklin Gothic Book</vt:lpstr>
      <vt:lpstr>Wingdings</vt:lpstr>
      <vt:lpstr>Crop</vt:lpstr>
      <vt:lpstr>RETAIL SALES &amp; PROFITABILITY ANALYSIS</vt:lpstr>
      <vt:lpstr>Understanding Sales Performance and Profitability</vt:lpstr>
      <vt:lpstr>From Raw Transactions to Business Insights</vt:lpstr>
      <vt:lpstr>A Profitable Business with Room to Improve Margins</vt:lpstr>
      <vt:lpstr>West Leads Regional Performance, While Technology Drives Category Results</vt:lpstr>
      <vt:lpstr>Consumer Leads Customer Sales as Performance Fluctuates Across the Year</vt:lpstr>
      <vt:lpstr>Top-selling products identified from product-level sales analysis</vt:lpstr>
      <vt:lpstr>Higher Discounts Are Driving the Business Into Negative Profit</vt:lpstr>
      <vt:lpstr>Five Insights Stand Out From the Analysis</vt:lpstr>
      <vt:lpstr>Prioritize Profitability While Scaling What Works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manvi sharma</dc:creator>
  <cp:lastModifiedBy>manvi sharma</cp:lastModifiedBy>
  <cp:revision>2</cp:revision>
  <dcterms:created xsi:type="dcterms:W3CDTF">2026-08-30T16:53:19Z</dcterms:created>
  <dcterms:modified xsi:type="dcterms:W3CDTF">2026-09-05T11:41:54Z</dcterms:modified>
</cp:coreProperties>
</file>